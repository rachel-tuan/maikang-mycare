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6.svg" /><Relationship Id="rId1" Type="http://schemas.openxmlformats.org/officeDocument/2006/relationships/image" Target="media/image4.png" /><Relationship Id="rId4" Type="http://schemas.openxmlformats.org/officeDocument/2006/relationships/image" Target="media/image7.svg" /><Relationship Id="rId2" Type="http://schemas.openxmlformats.org/officeDocument/2006/relationships/image" Target="media/image5.svg" /><Relationship Id="rId5" Type="http://schemas.openxmlformats.org/officeDocument/2006/relationships/image" Target="media/image8.svg" /><Relationship Id="rId6" Type="http://schemas.openxmlformats.org/officeDocument/2006/relationships/image" Target="media/image9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Relationship Id="rId2" Type="http://schemas.openxmlformats.org/officeDocument/2006/relationships/image" Target="media/image1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flexDirection: 'column' }}&gt;&#10;  {/* 顶部深蓝条 */}&#10;  &lt;Box style={{ width: '100%', height: 12, background: '#0E3F8C' }} /&gt;&#10;  {/* 主标题区 */}&#10;  &lt;Box style={{ flex: 1, flexDirection: 'column', justifyContent: 'center', alignItems: 'center', gap: 22, padding: '0 100px' }}&gt;&#10;    &lt;Text style={{ fontSize: 22, color: '#3D7BD9', letterSpacing: 6, fontWeight: 600 }}&gt;2026 年（第 3 届）全国大学生数智链应用大赛 · 智能体赛道&lt;/Text&gt;&#10;    &lt;Text style={{ fontSize: 72, fontWeight: 'bold', color: '#0E3F8C', letterSpacing: 2 }}&gt;迈康 MyCare&lt;/Text&gt;&#10;    &lt;Text style={{ fontSize: 34, fontWeight: 600, color: '#1E4FA8' }}&gt;老年慢病多智能体协同健康管理平台&lt;/Text&gt;&#10;    &lt;Text style={{ fontSize: 19, color: '#8B97A8', fontFamily: 'Times New Roman, serif', fontStyle: 'italic' }}&gt;&#10;      A Multi-Agent Collaborative Platform for Elderly Chronic Disease Management&#10;    &lt;/Text&gt;&#10;    &lt;Box style={{ flexDirection: 'row', alignItems: 'center', gap: 18, marginTop: 14 }}&gt;&#10;      &lt;Box style={{ background: '#1E4FA8', borderRadius: 24, padding: '10px 30px' }}&gt;&#10;        &lt;Text style={{ fontSize: 22, color: '#FFFFFF', fontWeight: 600 }}&gt;医学判定交代码 · 表达交模型&lt;/Text&gt;&#10;      &lt;/Box&gt;&#10;      &lt;Box style={{ background: '#E8EFF8', borderRadius: 24, padding: '10px 26px' }}&gt;&#10;        &lt;Text style={{ fontSize: 20, color: '#1E4FA8', fontWeight: 600 }}&gt;自主决策 · 环境感知 · 多模态交互&lt;/Text&gt;&#10;      &lt;/Box&gt;&#10;    &lt;/Box&gt;&#10;  &lt;/Box&gt;&#10;  {/* 底部信息条 */}&#10;  &lt;Box style={{ width: '100%', flexDirection: 'column', alignItems: 'center', gap: 14, paddingBottom: 44 }}&gt;&#10;    &lt;Box style={{ width: 720, height: 1, background: '#D6DCE5' }} /&gt;&#10;    &lt;Box style={{ flexDirection: 'row', gap: 60 }}&gt;&#10;      &lt;Text style={{ fontSize: 18, color: '#4A5568' }}&gt;学校名称：______________&lt;/Text&gt;&#10;      &lt;Text style={{ fontSize: 18, color: '#4A5568' }}&gt;团队队长：______________&lt;/Text&gt;&#10;      &lt;Text style={{ fontSize: 18, color: '#4A5568' }}&gt;指导教师：______________&lt;/Text&gt;&#10;    &lt;/Box&gt;&#10;    &lt;Text style={{ fontSize: 16, color: '#8B97A8' }}&gt;2026 年 9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2324100" y="1381125"/>
            <a:ext cx="755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2026 </a:t>
            </a:r>
            <a:r>
              <a:rPr lang="zh-CN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年（第</a:t>
            </a:r>
            <a:r>
              <a:rPr lang="en-US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 3 </a:t>
            </a:r>
            <a:r>
              <a:rPr lang="zh-CN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届）全国大学生数智链应用大赛</a:t>
            </a:r>
            <a:r>
              <a:rPr lang="en-US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 · </a:t>
            </a:r>
            <a:r>
              <a:rPr lang="zh-CN" sz="1650" b="1" spc="450">
                <a:solidFill>
                  <a:srgbClr val="3D7BD9"/>
                </a:solidFill>
                <a:latin typeface="Microsoft YaHei"/>
                <a:ea typeface="Microsoft YaHei"/>
              </a:rPr>
              <a:t>智能体赛道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95725" y="1847850"/>
            <a:ext cx="44005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150">
                <a:solidFill>
                  <a:srgbClr val="0E3F8C"/>
                </a:solidFill>
                <a:latin typeface="Microsoft YaHei"/>
                <a:ea typeface="Microsoft YaHei"/>
              </a:rPr>
              <a:t>迈康</a:t>
            </a:r>
            <a:r>
              <a:rPr lang="en-US" sz="5400" b="1" spc="150">
                <a:solidFill>
                  <a:srgbClr val="0E3F8C"/>
                </a:solidFill>
                <a:latin typeface="Microsoft YaHei"/>
                <a:ea typeface="Microsoft YaHei"/>
              </a:rPr>
              <a:t> MyCare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505200" y="2886075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171825" y="3486150"/>
            <a:ext cx="5848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i="1">
                <a:solidFill>
                  <a:srgbClr val="8B97A8"/>
                </a:solidFill>
                <a:latin typeface="Times New Roman"/>
                <a:ea typeface="Times New Roman"/>
              </a:rPr>
              <a:t>A Multi-Agent Collaborative Platform for Elderly Chronic Disease Management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2676525" y="4048125"/>
            <a:ext cx="3305175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962275" y="4143375"/>
            <a:ext cx="2733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医学判定交代码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表达交模型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153150" y="4067175"/>
            <a:ext cx="3371850" cy="419100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400800" y="4162425"/>
            <a:ext cx="287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自主决策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环境感知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多模态交互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667000" y="5762625"/>
            <a:ext cx="6858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28900" y="5905500"/>
            <a:ext cx="1933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学校名称：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______________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133975" y="5905500"/>
            <a:ext cx="1933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团队队长：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______________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39050" y="5905500"/>
            <a:ext cx="1933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指导教师：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______________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648325" y="624840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1280, height: 720, background: '#FFFFFF', flexDirection: 'row' }}&gt;&#10;  {/* 左深蓝栏 */}&#10;  &lt;Box style={{ width: 360, height: '100%', background: '#0E3F8C', flexDirection: 'column', justifyContent: 'center', padding: '0 48px', gap: 18 }}&gt;&#10;    &lt;Text style={{ fontSize: 56, fontWeight: 'bold', color: '#FFFFFF' }}&gt;目录&lt;/Text&gt;&#10;    &lt;Box style={{ width: 64, height: 4, background: '#FFC107' }} /&gt;&#10;    &lt;Text style={{ fontSize: 20, color: '#C9D8F0', lineHeight: 1.7 }}&gt;迈康 MyCare&lt;br /&gt;老年慢病多智能体&lt;br /&gt;协同健康管理平台&lt;/Text&gt;&#10;    &lt;Text style={{ fontSize: 16, color: '#8B9CC4', marginTop: 30 }}&gt;CONTENTS&lt;/Text&gt;&#10;  &lt;/Box&gt;&#10;  {/* 右条目区 */}&#10;  &lt;Box style={{ flex: 1, height: '100%', flexDirection: 'column', justifyContent: 'center', padding: '0 70px', gap: 30 }}&gt;&#10;    &lt;Box style={{ flexDirection: 'row', alignItems: 'center', gap: 24 }}&gt;&#10;      &lt;Box style={{ width: 64, height: 64, background: '#1E4FA8', borderRadius: 10, justifyContent: 'center', alignItems: 'center' }}&gt;&#10;        &lt;Text style={{ fontSize: 28, fontWeight: 'bold', color: '#FFFFFF' }}&gt;01&lt;/Text&gt;&#10;      &lt;/Box&gt;&#10;      &lt;Box style={{ flex: 1, flexDirection: 'column', gap: 6 }}&gt;&#10;        &lt;Text style={{ fontSize: 26, fontWeight: 'bold', color: '#1A2230' }}&gt;项目定位与技术架构&lt;/Text&gt;&#10;        &lt;Text style={{ fontSize: 18, color: '#4A5568' }}&gt;能记录、能判定、能解释、能被医生调整 · 六智能体 · 数据三层设计&lt;/Text&gt;&#10;      &lt;/Box&gt;&#10;    &lt;/Box&gt;&#10;    &lt;Box style={{ width: '100%', height: 1, background: '#E5E7EB' }} /&gt;&#10;    &lt;Box style={{ flexDirection: 'row', alignItems: 'center', gap: 24 }}&gt;&#10;      &lt;Box style={{ width: 64, height: 64, background: '#1E4FA8', borderRadius: 10, justifyContent: 'center', alignItems: 'center' }}&gt;&#10;        &lt;Text style={{ fontSize: 28, fontWeight: 'bold', color: '#FFFFFF' }}&gt;02&lt;/Text&gt;&#10;      &lt;/Box&gt;&#10;      &lt;Box style={{ flex: 1, flexDirection: 'column', gap: 6 }}&gt;&#10;        &lt;Text style={{ fontSize: 26, fontWeight: 'bold', color: '#1A2230' }}&gt;规则引擎与评分体系&lt;/Text&gt;&#10;        &lt;Text style={{ fontSize: 18, color: '#4A5568' }}&gt;13 条确定性规则 · 四级预警等级 · 规则分与 AI 辅助分两层评分&lt;/Text&gt;&#10;      &lt;/Box&gt;&#10;    &lt;/Box&gt;&#10;    &lt;Box style={{ width: '100%', height: 1, background: '#E5E7EB' }} /&gt;&#10;    &lt;Box style={{ flexDirection: 'row', alignItems: 'center', gap: 24 }}&gt;&#10;      &lt;Box style={{ width: 64, height: 64, background: '#1E4FA8', borderRadius: 10, justifyContent: 'center', alignItems: 'center' }}&gt;&#10;        &lt;Text style={{ fontSize: 28, fontWeight: 'bold', color: '#FFFFFF' }}&gt;03&lt;/Text&gt;&#10;      &lt;/Box&gt;&#10;      &lt;Box style={{ flex: 1, flexDirection: 'column', gap: 6 }}&gt;&#10;        &lt;Text style={{ fontSize: 26, fontWeight: 'bold', color: '#1A2230' }}&gt;任务管理、权限边界与验收&lt;/Text&gt;&#10;        &lt;Text style={{ fontSize: 18, color: '#4A5568' }}&gt;今日任务生成 · 医生覆盖契约 · AI 权限白名单 · 验收证据&lt;/Text&gt;&#10;      &lt;/Box&gt;&#10;    &lt;/Box&gt;&#10;    &lt;Box style={{ marginTop: 26, background: '#F0F5FC', borderRadius: 10, padding: '16px 24px' }}&gt;&#10;      &lt;Text style={{ fontSize: 17, color: '#1E4FA8' }}&gt;主线：事实层与规则层分离 —— 数据只描述「发生了什么」，规则只回答「这意味着什么」，模型只负责「怎么说给人听」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7200" y="2009775"/>
            <a:ext cx="2514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57200" y="28289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7200" y="3038475"/>
            <a:ext cx="25146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迈康</a:t>
            </a:r>
            <a:r>
              <a:rPr lang="en-US" sz="1500">
                <a:solidFill>
                  <a:srgbClr val="C9D8F0"/>
                </a:solidFill>
                <a:latin typeface="Microsoft YaHei"/>
                <a:ea typeface="Microsoft YaHei"/>
              </a:rPr>
              <a:t> MyCare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老年慢病多智能体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C9D8F0"/>
                </a:solidFill>
                <a:latin typeface="Microsoft YaHei"/>
                <a:ea typeface="Microsoft YaHei"/>
              </a:rPr>
              <a:t>协同健康管理平台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7200" y="46672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CC4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095750" y="132397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238625" y="14668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933950" y="1343025"/>
            <a:ext cx="659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项目定位与技术架构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933950" y="1704975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能记录、能判定、能解释、能被医生调整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六智能体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数据三层设计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095750" y="2219325"/>
            <a:ext cx="7429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095750" y="2514600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238625" y="26574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933950" y="2533650"/>
            <a:ext cx="659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规则引擎与评分体系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933950" y="28956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13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条确定性规则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四级预警等级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规则分与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辅助分两层评分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095750" y="3409950"/>
            <a:ext cx="7429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095750" y="370522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238625" y="3848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933950" y="3724275"/>
            <a:ext cx="659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任务管理、权限边界与验收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933950" y="4086225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今日任务生成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医生覆盖契约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AI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权限白名单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验收证据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095750" y="4848225"/>
            <a:ext cx="7429500" cy="695325"/>
          </a:xfrm>
          <a:prstGeom prst="roundRect">
            <a:avLst>
              <a:gd name="adj" fmla="val 1369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324350" y="5000625"/>
            <a:ext cx="6972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主线：事实层与规则层分离</a:t>
            </a:r>
            <a:r>
              <a:rPr lang="en-US" sz="1275">
                <a:solidFill>
                  <a:srgbClr val="1E4FA8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E4FA8"/>
                </a:solidFill>
                <a:latin typeface="Microsoft YaHei"/>
                <a:ea typeface="Microsoft YaHei"/>
              </a:rPr>
              <a:t>数据只描述「发生了什么」，规则只回答「这意味着什么」，模型只负责「怎么说给人听」。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7F9FC', flexDirection: 'column' }}&gt;&#10;  {/* 顶部深蓝条 */}&#10;  &lt;Box style={{ width: '100%', height: 10, background: '#0E3F8C' }} /&gt;&#10;  &lt;Box style={{ height: 670, flexDirection: 'row', alignItems: 'center', padding: '0 110px', gap: 80 }}&gt;&#10;    {/* 左大数字 */}&#10;    &lt;Text style={{ fontSize: 220, fontWeight: 'bold', color: '#1E4FA8', opacity: 0.16 }}&gt;01&lt;/Text&gt;&#10;    {/* 右标题与要点 */}&#10;    &lt;Box style={{ flex: 1, height: 670, flexDirection: 'column', justifyContent: 'center', gap: 16 }}&gt;&#10;      &lt;Box style={{ flexDirection: 'row', alignItems: 'center', gap: 16 }}&gt;&#10;        &lt;Box style={{ width: 8, height: 44, background: '#1E4FA8' }} /&gt;&#10;        &lt;Text style={{ fontSize: 44, fontWeight: 'bold', color: '#0E3F8C' }}&gt;项目定位与技术架构&lt;/Text&gt;&#10;      &lt;/Box&gt;&#10;      &lt;Text style={{ fontSize: 19, color: '#4A5568', lineHeight: 1.6 }}&gt;&#10;        老年慢病管理难在院外长期坚持：指标看不懂、AI 结论不可信、数据易被覆盖、建议无人把关。&lt;br /&gt;&#10;        迈康 MyCare 用「确定性规则 + 受限大模型」回答这四个问题。&#10;      &lt;/Text&gt;&#10;      &lt;Box style={{ flexDirection: 'column', gap: 10 }}&gt;&#10;        &lt;Box style={{ flexDirection: 'row', alignItems: 'center', gap: 14 }}&gt;&#10;          &lt;Box style={{ width: 10, height: 10, borderRadius: 5, background: '#1E4FA8' }} /&gt;&#10;          &lt;Text style={{ fontSize: 19, color: '#1A2230' }}&gt;一句话定位：能记录、能判定、能解释、能被医生调整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六个智能体分工协作，前后端共用同一套契约文件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数据三层架构：事实层 / 兼容层 / 派生层，互不替代&lt;/Text&gt;&#10;        &lt;/Box&gt;&#10;      &lt;/Box&gt;&#10;    &lt;/Box&gt;&#10;  &lt;/Box&gt;&#10;  &lt;Box style={{ width: '100%', height: 40, flexDirection: 'row', justifyContent: 'space-between', alignItems: 'center', padding: '0 40px' }}&gt;&#10;    &lt;Text style={{ fontSize: 14, color: '#8B97A8' }}&gt;迈康 MyCare · 答辩演示&lt;/Text&gt;&#10;    &lt;Text style={{ fontSize: 14, color: '#1E4FA8' }}&gt;0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400550" y="1981200"/>
            <a:ext cx="762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629150" y="1933575"/>
            <a:ext cx="3771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项目定位与技术架构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00550" y="2590800"/>
            <a:ext cx="67437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老年慢病管理难在院外长期坚持：指标看不懂、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结论不可信、数据易被覆盖、建议无人把关。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迈康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MyCare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用「确定性规则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受限大模型」回答这四个问题。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400550" y="3857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629150" y="3790950"/>
            <a:ext cx="434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一句话定位：能记录、能判定、能解释、能被医生调整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400550" y="4171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629150" y="4105275"/>
            <a:ext cx="3981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六个智能体分工协作，前后端共用同一套契约文件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400550" y="4486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629150" y="4419600"/>
            <a:ext cx="417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数据三层架构：事实层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兼容层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派生层，互不替代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答辩演示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15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47750" y="2028825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>
                    <a:alpha val="16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2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项目定位与核心问题&lt;/Text&gt;&#10;    &lt;Text style={{ fontSize: 17, color: '#C9D8F0', marginLeft: 18 }}&gt;医学判定交代码 · 表达交模型&lt;/Text&gt;&#10;  &lt;/Box&gt;&#10;  {/* 内容区 */}&#10;  &lt;Box style={{ height: 580, flexDirection: 'row', padding: '24px 40px', gap: 24 }}&gt;&#10;    {/* 左栏：定位卡 + 真实登录页截图 */}&#10;    &lt;Box style={{ width: 420, flexDirection: 'column', gap: 16 }}&gt;&#10;      &lt;Box style={{ background: '#0E3F8C', borderRadius: 12, padding: '20px 24px' }}&gt;&#10;        &lt;Text style={{ fontSize: 16, color: '#8B9CC4', marginBottom: 8 }}&gt;一句话定位&lt;/Text&gt;&#10;        &lt;Text style={{ fontSize: 21, color: '#FFFFFF', fontWeight: 600, lineHeight: 1.5 }}&gt;&#10;          为老年慢病患者提供「&lt;span style={{ color: '#FFC107' }}&gt;能记录、能判定、能解释、能被医生调整&lt;/span&gt;」的日常健康管理工具&#10;        &lt;/Text&gt;&#10;      &lt;/Box&gt;&#10;      &lt;Image src=&quot;assets/login.png&quot; style={{ width: 420, height: 320, objectFit: 'cover', borderRadius: 12, border: '1px solid #D6DCE5' }} /&gt;&#10;      &lt;Text style={{ fontSize: 14, color: '#8B97A8' }}&gt;▲ 系统登录页 · 示范病例一键进入（真实界面截图）&lt;/Text&gt;&#10;    &lt;/Box&gt;&#10;    {/* 右栏：5 个核心问题 → 解法 */}&#10;    &lt;Box style={{ flex: 1, flexDirection: 'column', gap: 12 }}&gt;&#10;      &lt;Box style={{ background: '#FFFFFF', border: '1px solid #D6DCE5', borderRadius: 10, padding: '14px 20px', flexDirection: 'row', alignItems: 'center', gap: 16, flex: 1 }}&gt;&#10;        &lt;FAIcon name='question-circle' style={{ fill: '#1E4FA8', width: 30, height: 30 }} /&gt;&#10;        &lt;Box style={{ flex: 1, flexDirection: 'column' }}&gt;&#10;          &lt;Text style={{ fontSize: 19, fontWeight: 'bold', color: '#1A2230' }}&gt;老人看不懂指标数字&lt;/Text&gt;&#10;          &lt;Text style={{ fontSize: 16, color: '#4A5568' }}&gt;→ 四级产品词表：提示 / 关注 / 预警 / 紧急，每级配可执行动作&lt;/Text&gt;&#10;        &lt;/Box&gt;&#10;      &lt;/Box&gt;&#10;      &lt;Box style={{ background: '#FFFFFF', border: '1px solid #D6DCE5', borderRadius: 10, padding: '14px 20px', flexDirection: 'row', alignItems: 'center', gap: 16, flex: 1 }}&gt;&#10;        &lt;FAIcon name='shield' style={{ fill: '#1E4FA8', width: 30, height: 30 }} /&gt;&#10;        &lt;Box style={{ flex: 1, flexDirection: 'column' }}&gt;&#10;          &lt;Text style={{ fontSize: 19, fontWeight: 'bold', color: '#1A2230' }}&gt;AI 直接给医学结论不可信&lt;/Text&gt;&#10;          &lt;Text style={{ fontSize: 16, color: '#4A5568' }}&gt;→ 规则判定全由代码计算，模型只转自然语言，不自定阈值&lt;/Text&gt;&#10;        &lt;/Box&gt;&#10;      &lt;/Box&gt;&#10;      &lt;Box style={{ background: '#FFFFFF', border: '1px solid #D6DCE5', borderRadius: 10, padding: '14px 20px', flexDirection: 'row', alignItems: 'center', gap: 16, flex: 1 }}&gt;&#10;        &lt;FAIcon name='database' style={{ fill: '#1E4FA8', width: 30, height: 30 }} /&gt;&#10;        &lt;Box style={{ flex: 1, flexDirection: 'column' }}&gt;&#10;          &lt;Text style={{ fontSize: 19, fontWeight: 'bold', color: '#1A2230' }}&gt;一天多次测量容易被覆盖&lt;/Text&gt;&#10;          &lt;Text style={{ fontSize: 16, color: '#4A5568' }}&gt;→ 事实层「一次测量一条、纯追加、永不覆盖」，作废只打状态位&lt;/Text&gt;&#10;        &lt;/Box&gt;&#10;      &lt;/Box&gt;&#10;      &lt;Box style={{ background: '#FFFFFF', border: '1px solid #D6DCE5', borderRadius: 10, padding: '14px 20px', flexDirection: 'row', alignItems: 'center', gap: 16, flex: 1 }}&gt;&#10;        &lt;FAIcon name='user-md' style={{ fill: '#1E4FA8', width: 30, height: 30 }} /&gt;&#10;        &lt;Box style={{ flex: 1, flexDirection: 'column' }}&gt;&#10;          &lt;Text style={{ fontSize: 19, fontWeight: 'bold', color: '#1A2230' }}&gt;AI 建议没人把关&lt;/Text&gt;&#10;          &lt;Text style={{ fontSize: 16, color: '#4A5568' }}&gt;→ 任务调整一律进入 pending，医生审结后才生效&lt;/Text&gt;&#10;        &lt;/Box&gt;&#10;      &lt;/Box&gt;&#10;      &lt;Box style={{ background: '#FFFFFF', border: '1px solid #D6DCE5', borderRadius: 10, padding: '14px 20px', flexDirection: 'row', alignItems: 'center', gap: 16, flex: 1 }}&gt;&#10;        &lt;FAIcon name='chart-bar' style={{ fill: '#1E4FA8', width: 30, height: 30 }} /&gt;&#10;        &lt;Box style={{ flex: 1, flexDirection: 'column' }}&gt;&#10;          &lt;Text style={{ fontSize: 19, fontWeight: 'bold', color: '#1A2230' }}&gt;AI 评分不可解释&lt;/Text&gt;&#10;          &lt;Text style={{ fontSize: 16, color: '#4A5568' }}&gt;→ 两层分离：规则分（官方）/ AI 辅助分（仅参考）&lt;/Text&gt;&#10;        &lt;/Box&gt;&#10;      &lt;/Box&gt;&#10;    &lt;/Box&gt;&#10;  &lt;/Box&gt;&#10;  {/* 底部结论条 */}&#10;  &lt;Box style={{ height: 60, background: '#1E4FA8', flexDirection: 'row', alignItems: 'center', justifyContent: 'center' }}&gt;&#10;    &lt;Text style={{ fontSize: 20, color: '#FFFFFF', fontWeight: 600 }}&gt;&#10;      核心原则：任何涉及数字的环节都不经过大模型 —— 从架构上排除数值幻觉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项目定位与核心问题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486150" y="28575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医学判定交代码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表达交模型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81000" y="990600"/>
            <a:ext cx="4000500" cy="1733550"/>
          </a:xfrm>
          <a:prstGeom prst="roundRect">
            <a:avLst>
              <a:gd name="adj" fmla="val 65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CC4"/>
                </a:solidFill>
                <a:latin typeface="Microsoft YaHei"/>
                <a:ea typeface="Microsoft YaHei"/>
              </a:rPr>
              <a:t>一句话定位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35433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为老年慢病患者提供「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能记录、能判定、能解释、能被医生调整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」的日常健康管理工具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381000" y="2876550"/>
            <a:ext cx="4000500" cy="3048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2" name=""/>
          <p:cNvPicPr>
            <a:picLocks noChangeAspect="1"/>
          </p:cNvPicPr>
          <p:nvPr/>
        </p:nvPicPr>
        <p:blipFill>
          <a:blip r:embed="rId1"/>
          <a:srcRect l="13085" t="0" r="13085" b="0"/>
          <a:stretch>
            <a:fillRect/>
          </a:stretch>
        </p:blipFill>
        <p:spPr>
          <a:xfrm rot="0" flipH="0" flipV="0">
            <a:off x="381000" y="2876550"/>
            <a:ext cx="4000500" cy="3048000"/>
          </a:xfrm>
          <a:prstGeom prst="roundRect">
            <a:avLst>
              <a:gd name="adj" fmla="val 3750"/>
            </a:avLst>
          </a:prstGeom>
          <a:ln/>
        </p:spPr>
      </p:pic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60769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系统登录页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示范病例一键进入（真实界面截图）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4610100" y="990600"/>
            <a:ext cx="720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00600" y="1314450"/>
            <a:ext cx="285750" cy="28575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238750" y="1247775"/>
            <a:ext cx="638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老人看不懂指标数字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238750" y="1466850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四级产品词表：提示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预警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紧急，每级配可执行动作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610100" y="2028825"/>
            <a:ext cx="720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800600" y="2352675"/>
            <a:ext cx="285750" cy="28575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38750" y="2286000"/>
            <a:ext cx="638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直接给医学结论不可信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238750" y="2505075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规则判定全由代码计算，模型只转自然语言，不自定阈值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610100" y="3067050"/>
            <a:ext cx="72009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800600" y="3381375"/>
            <a:ext cx="285750" cy="28575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238750" y="3324225"/>
            <a:ext cx="638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一天多次测量容易被覆盖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238750" y="3543300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事实层「一次测量一条、纯追加、永不覆盖」，作废只打状态位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610100" y="4095750"/>
            <a:ext cx="720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800600" y="4419600"/>
            <a:ext cx="285750" cy="28575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238750" y="4352925"/>
            <a:ext cx="638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建议没人把关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238750" y="4572000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任务调整一律进入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pending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，医生审结后才生效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610100" y="5133975"/>
            <a:ext cx="720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800600" y="5457825"/>
            <a:ext cx="285750" cy="28575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238750" y="5391150"/>
            <a:ext cx="6381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评分不可解释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238750" y="5610225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两层分离：规则分（官方）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 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辅助分（仅参考）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0" y="6286500"/>
            <a:ext cx="12192000" cy="571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876550" y="6457950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核心原则：任何涉及数字的环节都不经过大模型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从架构上排除数值幻觉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6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技术栈与六智能体架构&lt;/Text&gt;&#10;    &lt;Text style={{ fontSize: 17, color: '#C9D8F0', marginLeft: 18 }}&gt;前后端同源 · 同一把尺子&lt;/Text&gt;&#10;  &lt;/Box&gt;&#10;  {/* 内容区 */}&#10;  &lt;Box style={{ height: 580, flexDirection: 'row', padding: '24px 40px', gap: 24 }}&gt;&#10;    {/* 宽栏：智能体中心真实截图 + 契约说明 */}&#10;    &lt;Box style={{ flex: 1, flexDirection: 'column', gap: 14 }}&gt;&#10;      &lt;Image src=&quot;assets/agents.png&quot; style={{ width: 700, height: 394, objectFit: 'cover', borderRadius: 12, border: '1px solid #D6DCE5' }} /&gt;&#10;      &lt;Text style={{ fontSize: 14, color: '#8B97A8' }}&gt;▲ 智能体中心：体征分析 → 风险预警 → 方案规划 → 汇总编排（真实运行界面）&lt;/Text&gt;&#10;      &lt;Box style={{ background: '#E8EFF8', borderRadius: 10, padding: '14px 20px' }}&gt;&#10;        &lt;Text style={{ fontSize: 17, color: '#0E3F8C', fontWeight: 600, lineHeight: 1.6 }}&gt;&#10;          五个共用契约文件：clinicalRules.js · dailyTasks.js · taskOverride.js · healthScore.js · aiScore.js&#10;          —— 前后端同时 import，判定口径天然一致&#10;        &lt;/Text&gt;&#10;      &lt;/Box&gt;&#10;    &lt;/Box&gt;&#10;    {/* 窄栏：技术栈清单 */}&#10;    &lt;Box style={{ width: 420, flexDirection: 'column', gap: 12 }}&gt;&#10;      &lt;Box style={{ background: '#FFFFFF', border: '1px solid #D6DCE5', borderRadius: 10, padding: '14px 20px', flexDirection: 'column', gap: 4 }}&gt;&#10;        &lt;Text style={{ fontSize: 15, color: '#8B97A8' }}&gt;前端 / 后端&lt;/Text&gt;&#10;        &lt;Text style={{ fontSize: 19, fontWeight: 600, color: '#1A2230', lineHeight: 1.5 }}&gt;React 18 · Vite 5 · Ant Design 5&lt;br /&gt;Node.js 22（Express · ESM）· 31 条路由&lt;/Text&gt;&#10;      &lt;/Box&gt;&#10;      &lt;Box style={{ background: '#FFFFFF', border: '1px solid #D6DCE5', borderRadius: 10, padding: '14px 20px', flexDirection: 'column', gap: 4 }}&gt;&#10;        &lt;Text style={{ fontSize: 15, color: '#8B97A8' }}&gt;数据库&lt;/Text&gt;&#10;        &lt;Text style={{ fontSize: 19, fontWeight: 600, color: '#1A2230' }}&gt;node:sqlite 内置模块 · 22 张表&lt;/Text&gt;&#10;      &lt;/Box&gt;&#10;      &lt;Box style={{ background: '#FFFFFF', border: '1px solid #D6DCE5', borderRadius: 10, padding: '14px 20px', flexDirection: 'column', gap: 4 }}&gt;&#10;        &lt;Text style={{ fontSize: 15, color: '#8B97A8' }}&gt;对话模型&lt;/Text&gt;&#10;        &lt;Text style={{ fontSize: 19, fontWeight: 600, color: '#1A2230' }}&gt;DeepSeek &lt;span style={{ color: '#1E4FA8' }}&gt;deepseek-flash&lt;/span&gt;（OpenAI 兼容接口）&lt;/Text&gt;&#10;      &lt;/Box&gt;&#10;      &lt;Box style={{ background: '#FFFFFF', border: '1px solid #D6DCE5', borderRadius: 10, padding: '14px 20px', flexDirection: 'column', gap: 4 }}&gt;&#10;        &lt;Text style={{ fontSize: 15, color: '#8B97A8' }}&gt;视觉模型&lt;/Text&gt;&#10;        &lt;Text style={{ fontSize: 19, fontWeight: 600, color: '#1A2230' }}&gt;通义千问 &lt;span style={{ color: '#1E4FA8' }}&gt;qwen3.8-max&lt;/span&gt; + Tesseract OCR 兜底&lt;/Text&gt;&#10;      &lt;/Box&gt;&#10;      &lt;Box style={{ background: '#0E3F8C', borderRadius: 10, padding: '14px 20px', flex: 1, justifyContent: 'center' }}&gt;&#10;        &lt;Text style={{ fontSize: 16, color: '#FFFFFF', fontWeight: 600, lineHeight: 1.5 }}&gt;&#10;          六个智能体：健康管家（编排）· 体征分析 · 风险预警 · 方案规划 · 多模态识别 · 情感陪伴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技术栈与六智能体架构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771900" y="28575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前后端同源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同一把尺子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81000" y="990600"/>
            <a:ext cx="6667500" cy="37528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 r:embed="rId1"/>
          <a:srcRect l="31" t="0" r="31" b="0"/>
          <a:stretch>
            <a:fillRect/>
          </a:stretch>
        </p:blipFill>
        <p:spPr>
          <a:xfrm rot="0" flipH="0" flipV="0">
            <a:off x="381000" y="990600"/>
            <a:ext cx="6667500" cy="3752850"/>
          </a:xfrm>
          <a:prstGeom prst="roundRect">
            <a:avLst>
              <a:gd name="adj" fmla="val 3046"/>
            </a:avLst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81000" y="4876800"/>
            <a:ext cx="720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智能体中心：体征分析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风险预警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方案规划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汇总编排（真实运行界面）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381000" y="5172075"/>
            <a:ext cx="72009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" y="5305425"/>
            <a:ext cx="6819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五个共用契约文件：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clinicalRules.js · dailyTasks.js · taskOverride.js · healthScore.js · aiScore.js ——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前后端同时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 import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，判定口径天然一致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810500" y="990600"/>
            <a:ext cx="4000500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001000" y="11239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001000" y="1333500"/>
            <a:ext cx="3619500" cy="657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React 18 · Vite 5 · Ant Design 5</a:t>
            </a:r>
            <a:endParaRPr/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Node.js 22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Express · ESM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）·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31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条路由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810500" y="2238375"/>
            <a:ext cx="40005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001000" y="23717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数据库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01000" y="2581275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node:sqlite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内置模块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· 22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810500" y="3048000"/>
            <a:ext cx="40005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001000" y="31813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对话模型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001000" y="3390900"/>
            <a:ext cx="3619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DeepSeek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deepseek-flash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OpenAI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兼容接口）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810500" y="4076700"/>
            <a:ext cx="40005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001000" y="42100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视觉模型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001000" y="4419600"/>
            <a:ext cx="3619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通义千问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qwen3.8-max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+ Tesseract OCR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兜底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810500" y="5105400"/>
            <a:ext cx="40005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001000" y="53054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六个智能体：健康管家（编排）·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体征分析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风险预警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方案规划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多模态识别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情感陪伴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3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数据三层架构：事实 / 兼容 / 派生&lt;/Text&gt;&#10;    &lt;Text style={{ fontSize: 17, color: '#C9D8F0', marginLeft: 18 }}&gt;最关键的数据设计 · 不得互相替代&lt;/Text&gt;&#10;  &lt;/Box&gt;&#10;  {/* 内容区 */}&#10;  &lt;Box style={{ height: 580, flexDirection: 'row', padding: '20px 40px', gap: 26, alignItems: 'center' }}&gt;&#10;    {/* 左：SVG 三层架构图 */}&#10;    &lt;Box style={{ width: 660, flexDirection: 'column', alignItems: 'center' }}&gt;&#10;      &lt;svg width={660} height={490} viewBox='0 0 660 490'&gt;&#10;        {/* 事实层 */}&#10;        &lt;rect x='10' y='10' width='640' height='120' rx='12' fill='#0E3F8C' /&gt;&#10;        &lt;text x='34' y='48' fontSize='24' fontWeight='bold' fill='#FFFFFF'&gt;事实层 · 分钟粒度&lt;/text&gt;&#10;        &lt;text x='34' y='80' fontSize='16' fill='#C9D8F0'&gt;bp_readings / bg_readings / med_logs　·　一次测量一条 · 纯追加永不覆盖&lt;/text&gt;&#10;        &lt;text x='34' y='108' fontSize='16' fill='#C9D8F0'&gt;「真实发生过什么」的唯一权威记录　·　作废只打 status = void&lt;/text&gt;&#10;        {/* 箭头 1 */}&#10;        &lt;path d='M330 138 L330 168' stroke='#1E4FA8' strokeWidth='3' /&gt;&#10;        &lt;path d='M318 162 L330 176 L342 162 Z' fill='#1E4FA8' /&gt;&#10;        &lt;text x='348' y='162' fontSize='15' fill='#1E4FA8' fontWeight='bold'&gt;确定性汇总&lt;/text&gt;&#10;        {/* 兼容层 */}&#10;        &lt;rect x='10' y='184' width='640' height='120' rx='12' fill='#1E4FA8' /&gt;&#10;        &lt;text x='34' y='222' fontSize='24' fontWeight='bold' fill='#FFFFFF'&gt;兼容层 · 日粒度&lt;/text&gt;&#10;        &lt;text x='34' y='254' fontSize='16' fill='#D8E4F6'&gt;daily_health_records　·　一天一行 UPSERT&lt;/text&gt;&#10;        &lt;text x='34' y='282' fontSize='16' fill='#D8E4F6'&gt;血压取当日收缩压最大　·　血糖优先空腹、无则取当日最高&lt;/text&gt;&#10;        {/* 箭头 2 */}&#10;        &lt;path d='M330 312 L330 342' stroke='#3D7BD9' strokeWidth='3' /&gt;&#10;        &lt;path d='M318 336 L330 350 L342 336 Z' fill='#3D7BD9' /&gt;&#10;        &lt;text x='348' y='336' fontSize='15' fill='#3D7BD9' fontWeight='bold'&gt;实时派生&lt;/text&gt;&#10;        {/* 派生层 */}&#10;        &lt;rect x='10' y='358' width='640' height='120' rx='12' fill='#E8EFF8' stroke='#1E4FA8' strokeWidth='2' /&gt;&#10;        &lt;text x='34' y='396' fontSize='24' fontWeight='bold' fill='#0E3F8C'&gt;派生层 · 实时计算（不落库）&lt;/text&gt;&#10;        &lt;text x='34' y='428' fontSize='16' fill='#1A2230'&gt;今日任务 / 评分 / 预警等级　·　buildDailyTasks() 派生&lt;/text&gt;&#10;        &lt;text x='34' y='456' fontSize='16' fill='#1A2230'&gt;进度由当日有效记录实时派生　·　每次读取重算&lt;/text&gt;&#10;      &lt;/svg&gt;&#10;    &lt;/Box&gt;&#10;    {/* 右：三角色说明 + NULL 警示卡 */}&#10;    &lt;Box style={{ flex: 1, flexDirection: 'column', gap: 14 }}&gt;&#10;      &lt;Box style={{ background: '#FFFFFF', border: '1px solid #D6DCE5', borderLeft: '5px solid #0E3F8C', borderRadius: 8, padding: '14px 18px' }}&gt;&#10;        &lt;Text style={{ fontSize: 18, fontWeight: 'bold', color: '#0E3F8C' }}&gt;事实层&lt;/Text&gt;&#10;        &lt;Text style={{ fontSize: 16, color: '#4A5568', lineHeight: 1.5 }}&gt;数据只描述「发生了什么」，是可追溯、不可篡改的底层事实&lt;/Text&gt;&#10;      &lt;/Box&gt;&#10;      &lt;Box style={{ background: '#FFFFFF', border: '1px solid #D6DCE5', borderLeft: '5px solid #1E4FA8', borderRadius: 8, padding: '14px 18px' }}&gt;&#10;        &lt;Text style={{ fontSize: 18, fontWeight: 'bold', color: '#1E4FA8' }}&gt;兼容层&lt;/Text&gt;&#10;        &lt;Text style={{ fontSize: 16, color: '#4A5568', lineHeight: 1.5 }}&gt;为既有规则引擎提供「保守代表值」，口径确定性汇总&lt;/Text&gt;&#10;      &lt;/Box&gt;&#10;      &lt;Box style={{ background: '#FFFFFF', border: '1px solid #D6DCE5', borderLeft: '5px solid #3D7BD9', borderRadius: 8, padding: '14px 18px' }}&gt;&#10;        &lt;Text style={{ fontSize: 18, fontWeight: 'bold', color: '#3D7BD9' }}&gt;派生层&lt;/Text&gt;&#10;        &lt;Text style={{ fontSize: 16, color: '#4A5568', lineHeight: 1.5 }}&gt;规则只回答「这意味着什么」，等级与任务随数据实时更新&lt;/Text&gt;&#10;      &lt;/Box&gt;&#10;      &lt;Box style={{ background: '#FFFFFF', border: '2px solid #D9534F', borderRadius: 10, padding: '16px 18px', marginTop: 6 }}&gt;&#10;        &lt;Text style={{ fontSize: 18, fontWeight: 'bold', color: '#D9534F' }}&gt;Step 11 关键修复：NULL ≠ 0&lt;/Text&gt;&#10;        &lt;Text style={{ fontSize: 16, color: '#4A5568', lineHeight: 1.55, marginTop: 6 }}&gt;&#10;          NULL 是「未记录」，缺测该日不进规则序列。修复前缺测字段补 0，导致假预警、掩盖真预警、达标率虚高——三项同时出错。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4333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数据三层架构：事实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兼容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派生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248275" y="285750"/>
            <a:ext cx="2409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最关键的数据设计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不得互相替代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190625"/>
            <a:ext cx="6286500" cy="4667250"/>
          </a:xfrm>
          <a:prstGeom prst="rect">
            <a:avLst/>
          </a:prstGeom>
          <a:ln/>
        </p:spPr>
      </p:pic>
      <p:sp>
        <p:nvSpPr>
          <p:cNvPr id="270" name=""/>
          <p:cNvSpPr/>
          <p:nvPr/>
        </p:nvSpPr>
        <p:spPr>
          <a:xfrm rot="0" flipH="0" flipV="0">
            <a:off x="6962775" y="1600200"/>
            <a:ext cx="489585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6962775" y="1600200"/>
            <a:ext cx="4895850" cy="752475"/>
          </a:xfrm>
          <a:custGeom>
            <a:pathLst>
              <a:path w="514" h="7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6"/>
                </a:lnTo>
                <a:cubicBezTo>
                  <a:pt x="5" y="78"/>
                  <a:pt x="6" y="79"/>
                  <a:pt x="8" y="79"/>
                </a:cubicBezTo>
                <a:cubicBezTo>
                  <a:pt x="3" y="79"/>
                  <a:pt x="0" y="75"/>
                  <a:pt x="0" y="7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134225" y="173355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事实层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134225" y="1943100"/>
            <a:ext cx="45053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数据只描述「发生了什么」，是可追溯、不可篡改的底层事实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962775" y="2486025"/>
            <a:ext cx="489585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6962775" y="2486025"/>
            <a:ext cx="4895850" cy="752475"/>
          </a:xfrm>
          <a:custGeom>
            <a:pathLst>
              <a:path w="514" h="7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6"/>
                </a:lnTo>
                <a:cubicBezTo>
                  <a:pt x="5" y="78"/>
                  <a:pt x="6" y="79"/>
                  <a:pt x="8" y="79"/>
                </a:cubicBezTo>
                <a:cubicBezTo>
                  <a:pt x="3" y="79"/>
                  <a:pt x="0" y="75"/>
                  <a:pt x="0" y="7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134225" y="2619375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兼容层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134225" y="2828925"/>
            <a:ext cx="45053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为既有规则引擎提供「保守代表值」，口径确定性汇总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962775" y="3371850"/>
            <a:ext cx="489585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962775" y="3371850"/>
            <a:ext cx="4895850" cy="752475"/>
          </a:xfrm>
          <a:custGeom>
            <a:pathLst>
              <a:path w="514" h="7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76"/>
                </a:lnTo>
                <a:cubicBezTo>
                  <a:pt x="5" y="78"/>
                  <a:pt x="6" y="79"/>
                  <a:pt x="8" y="79"/>
                </a:cubicBezTo>
                <a:cubicBezTo>
                  <a:pt x="3" y="79"/>
                  <a:pt x="0" y="75"/>
                  <a:pt x="0" y="7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134225" y="3505200"/>
            <a:ext cx="450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D7BD9"/>
                </a:solidFill>
                <a:latin typeface="Microsoft YaHei"/>
                <a:ea typeface="Microsoft YaHei"/>
              </a:rPr>
              <a:t>派生层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134225" y="3714750"/>
            <a:ext cx="45053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规则只回答「这意味着什么」，等级与任务随数据实时更新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915150" y="4314825"/>
            <a:ext cx="48958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086600" y="4467225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>Step 11 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关键修复：</a:t>
            </a: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>NULL ≠ 0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86600" y="4733925"/>
            <a:ext cx="4552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NULL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是「未记录」，缺测该日不进规则序列。修复前缺测字段补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，导致假预警、掩盖真预警、达标率虚高——三项同时出错。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7" name="" descr="&lt;Slide style={{ width: 1280, height: 720, background: '#F7F9FC', flexDirection: 'column' }}&gt;&#10;  {/* 顶部深蓝条 */}&#10;  &lt;Box style={{ width: '100%', height: 10, background: '#0E3F8C' }} /&gt;&#10;  &lt;Box style={{ height: 670, flexDirection: 'row', alignItems: 'center', padding: '0 110px', gap: 80 }}&gt;&#10;    {/* 左大数字 */}&#10;    &lt;Text style={{ fontSize: 220, fontWeight: 'bold', color: '#1E4FA8', opacity: 0.16 }}&gt;02&lt;/Text&gt;&#10;    {/* 右标题与要点 */}&#10;    &lt;Box style={{ flex: 1, height: 670, flexDirection: 'column', justifyContent: 'center', gap: 16 }}&gt;&#10;      &lt;Box style={{ flexDirection: 'row', alignItems: 'center', gap: 16 }}&gt;&#10;        &lt;Box style={{ width: 8, height: 44, background: '#1E4FA8' }} /&gt;&#10;        &lt;Text style={{ fontSize: 44, fontWeight: 'bold', color: '#0E3F8C' }}&gt;规则引擎与评分体系&lt;/Text&gt;&#10;      &lt;/Box&gt;&#10;      &lt;Text style={{ fontSize: 19, color: '#4A5568', lineHeight: 1.6 }}&gt;&#10;        判定不依赖大模型：13 条确定性规则算出所有医学数值、达标率与预警等级，&lt;br /&gt;&#10;        前后端共用同一实现；模型只把结果转成人话，不得自定阈值或等级。&#10;      &lt;/Text&gt;&#10;      &lt;Box style={{ flexDirection: 'column', gap: 10 }}&gt;&#10;        &lt;Box style={{ flexDirection: 'row', alignItems: 'center', gap: 14 }}&gt;&#10;          &lt;Box style={{ width: 10, height: 10, borderRadius: 5, background: '#1E4FA8' }} /&gt;&#10;          &lt;Text style={{ fontSize: 19, color: '#1A2230' }}&gt;13 条规则：血压 4 条 · 血糖 4 条 · 体重与行为 5 条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四级预警：唯一裁定链，晨报 / 落库 / 医生端三级同源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两层评分：规则分（官方）· AI 辅助分（仅参考）&lt;/Text&gt;&#10;        &lt;/Box&gt;&#10;      &lt;/Box&gt;&#10;    &lt;/Box&gt;&#10;  &lt;/Box&gt;&#10;  &lt;Box style={{ width: '100%', height: 40, flexDirection: 'row', justifyContent: 'space-between', alignItems: 'center', padding: '0 40px' }}&gt;&#10;    &lt;Text style={{ fontSize: 14, color: '#8B97A8' }}&gt;迈康 MyCare · 答辩演示&lt;/Text&gt;&#10;    &lt;Text style={{ fontSize: 14, color: '#1E4FA8' }}&gt;07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4400550" y="2162175"/>
            <a:ext cx="762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629150" y="2114550"/>
            <a:ext cx="3771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规则引擎与评分体系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400550" y="2771775"/>
            <a:ext cx="67437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判定不依赖大模型：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13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条确定性规则算出所有医学数值、达标率与预警等级，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前后端共用同一实现；模型只把结果转成人话，不得自定阈值或等级。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4400550" y="3686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629150" y="3619500"/>
            <a:ext cx="4105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13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条规则：血压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4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血糖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4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体重与行为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400550" y="4000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629150" y="3933825"/>
            <a:ext cx="435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四级预警：唯一裁定链，晨报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落库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医生端三级同源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40055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629150" y="4248150"/>
            <a:ext cx="3952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两层评分：规则分（官方）·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辅助分（仅参考）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答辩演示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47750" y="2028825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>
                    <a:alpha val="16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确定性规则引擎：13 条规则&lt;/Text&gt;&#10;    &lt;Text style={{ fontSize: 17, color: '#C9D8F0', marginLeft: 18 }}&gt;clinicalRules.js · 唯一判定实现&lt;/Text&gt;&#10;  &lt;/Box&gt;&#10;  {/* 内容区：三栏 */}&#10;  &lt;Box style={{ height: 580, flexDirection: 'row', padding: '20px 40px', gap: 20 }}&gt;&#10;    {/* 血压 4 条 */}&#10;    &lt;Box style={{ flex: 1, background: '#FFFFFF', border: '1px solid #D6DCE5', borderRadius: 12, padding: 18, flexDirection: 'column', gap: 10 }}&gt;&#10;      &lt;Box style={{ flexDirection: 'row', alignItems: 'center', gap: 10 }}&gt;&#10;        &lt;Box style={{ background: '#1E4FA8', borderRadius: 6, padding: '4px 12px' }}&gt;&#10;          &lt;Text style={{ fontSize: 16, color: '#FFFFFF', fontWeight: 600 }}&gt;血压规则 · 4 条&lt;/Text&gt;&#10;        &lt;/Box&gt;&#10;      &lt;/Box&gt;&#10;      &lt;Box style={{ flex: 1, flexDirection: 'column', gap: 8 }}&gt;&#10;        &lt;Box style={{ background: '#F0F5FC', borderRadius: 8, padding: '10px 12px', flex: 1 }}&gt;&#10;          &lt;Text style={{ fontSize: 16, fontWeight: 'bold', color: '#1A2230' }}&gt;R-BP-1 单次超标提示&lt;/Text&gt;&#10;          &lt;Text style={{ fontSize: 14, color: '#4A5568' }}&gt;单日 ≥140/90 且前日未超标 → 提示&lt;/Text&gt;&#10;        &lt;/Box&gt;&#10;        &lt;Box style={{ background: '#F0F5FC', borderRadius: 8, padding: '10px 12px', flex: 1 }}&gt;&#10;          &lt;Text style={{ fontSize: 16, fontWeight: 'bold', color: '#1A2230' }}&gt;R-BP-2 连续异常趋势&lt;/Text&gt;&#10;          &lt;Text style={{ fontSize: 14, color: '#4A5568' }}&gt;连续 ≥3 天且 7 天涨幅 ≥10 → 预警&lt;/Text&gt;&#10;        &lt;/Box&gt;&#10;        &lt;Box style={{ background: '#F0F5FC', borderRadius: 8, padding: '10px 12px', flex: 1 }}&gt;&#10;          &lt;Text style={{ fontSize: 16, fontWeight: 'bold', color: '#1A2230' }}&gt;R-BP-3 严重超标强预警&lt;/Text&gt;&#10;          &lt;Text style={{ fontSize: 14, color: '#4A5568' }}&gt;≥180/110 或伴症状 → 紧急&lt;/Text&gt;&#10;        &lt;/Box&gt;&#10;        &lt;Box style={{ background: '#F0F5FC', borderRadius: 8, padding: '10px 12px', flex: 1 }}&gt;&#10;          &lt;Text style={{ fontSize: 16, fontWeight: 'bold', color: '#1A2230' }}&gt;R-BP-4 通知紧急联系人&lt;/Text&gt;&#10;          &lt;Text style={{ fontSize: 14, color: '#4A5568' }}&gt;需授权 + 用户确认，默认不发&lt;/Text&gt;&#10;        &lt;/Box&gt;&#10;      &lt;/Box&gt;&#10;    &lt;/Box&gt;&#10;    {/* 血糖 4 条 */}&#10;    &lt;Box style={{ flex: 1, background: '#FFFFFF', border: '1px solid #D6DCE5', borderRadius: 12, padding: 18, flexDirection: 'column', gap: 10 }}&gt;&#10;      &lt;Box style={{ flexDirection: 'row', alignItems: 'center', gap: 10 }}&gt;&#10;        &lt;Box style={{ background: '#1E4FA8', borderRadius: 6, padding: '4px 12px' }}&gt;&#10;          &lt;Text style={{ fontSize: 16, color: '#FFFFFF', fontWeight: 600 }}&gt;血糖规则 · 4 条&lt;/Text&gt;&#10;        &lt;/Box&gt;&#10;      &lt;/Box&gt;&#10;      &lt;Box style={{ flex: 1, flexDirection: 'column', gap: 8 }}&gt;&#10;        &lt;Box style={{ background: '#F0F5FC', borderRadius: 8, padding: '10px 12px', flex: 1 }}&gt;&#10;          &lt;Text style={{ fontSize: 16, fontWeight: 'bold', color: '#1A2230' }}&gt;R-BG-1 单次超标提示&lt;/Text&gt;&#10;          &lt;Text style={{ fontSize: 14, color: '#4A5568' }}&gt;空腹血糖超阈值且前日达标 → 提示&lt;/Text&gt;&#10;        &lt;/Box&gt;&#10;        &lt;Box style={{ background: '#F0F5FC', borderRadius: 8, padding: '10px 12px', flex: 1 }}&gt;&#10;          &lt;Text style={{ fontSize: 16, fontWeight: 'bold', color: '#1A2230' }}&gt;R-BG-2 血糖波动提醒&lt;/Text&gt;&#10;          &lt;Text style={{ fontSize: 14, color: '#4A5568' }}&gt;7 天极差 ≥1.4 mmol/L → 关注&lt;/Text&gt;&#10;        &lt;/Box&gt;&#10;        &lt;Box style={{ background: '#F0F5FC', borderRadius: 8, padding: '10px 12px', flex: 1 }}&gt;&#10;          &lt;Text style={{ fontSize: 16, fontWeight: 'bold', color: '#1A2230' }}&gt;R-BG-3 控制不佳趋势&lt;/Text&gt;&#10;          &lt;Text style={{ fontSize: 14, color: '#4A5568' }}&gt;7 天达标率 &amp;lt;60% 且向上 → 预警&lt;/Text&gt;&#10;        &lt;/Box&gt;&#10;        &lt;Box style={{ background: '#F0F5FC', borderRadius: 8, padding: '10px 12px', flex: 1 }}&gt;&#10;          &lt;Text style={{ fontSize: 16, fontWeight: 'bold', color: '#1A2230' }}&gt;R-BG-4 复查提醒&lt;/Text&gt;&#10;          &lt;Text style={{ fontSize: 14, color: '#4A5568' }}&gt;距上次 HbA1c &amp;gt;3 个月 → 提示&lt;/Text&gt;&#10;        &lt;/Box&gt;&#10;      &lt;/Box&gt;&#10;    &lt;/Box&gt;&#10;    {/* 体重与行为 5 条 */}&#10;    &lt;Box style={{ flex: 1, background: '#FFFFFF', border: '1px solid #D6DCE5', borderRadius: 12, padding: 18, flexDirection: 'column', gap: 10 }}&gt;&#10;      &lt;Box style={{ flexDirection: 'row', alignItems: 'center', gap: 10 }}&gt;&#10;        &lt;Box style={{ background: '#1E4FA8', borderRadius: 6, padding: '4px 12px' }}&gt;&#10;          &lt;Text style={{ fontSize: 16, color: '#FFFFFF', fontWeight: 600 }}&gt;体重与行为 · 5 条&lt;/Text&gt;&#10;        &lt;/Box&gt;&#10;      &lt;/Box&gt;&#10;      &lt;Box style={{ flex: 1, flexDirection: 'column', gap: 8 }}&gt;&#10;        &lt;Box style={{ background: '#F0F5FC', borderRadius: 8, padding: '10px 12px', flex: 1 }}&gt;&#10;          &lt;Text style={{ fontSize: 16, fontWeight: 'bold', color: '#1A2230' }}&gt;R-WT-1 记录达成 / R-WT-2 减重进展&lt;/Text&gt;&#10;          &lt;Text style={{ fontSize: 14, color: '#4A5568' }}&gt;当日有记录 → 提示 · 7 天净减 ≥0.5kg → 小结&lt;/Text&gt;&#10;        &lt;/Box&gt;&#10;        &lt;Box style={{ background: '#F0F5FC', borderRadius: 8, padding: '10px 12px', flex: 1 }}&gt;&#10;          &lt;Text style={{ fontSize: 16, fontWeight: 'bold', color: '#1A2230' }}&gt;R-WT-3 短期反弹提醒&lt;/Text&gt;&#10;          &lt;Text style={{ fontSize: 14, color: '#4A5568' }}&gt;单日回升 ≥0.5kg → 柔性关注&lt;/Text&gt;&#10;        &lt;/Box&gt;&#10;        &lt;Box style={{ background: '#F0F5FC', borderRadius: 8, padding: '10px 12px', flex: 1 }}&gt;&#10;          &lt;Text style={{ fontSize: 16, fontWeight: 'bold', color: '#1A2230' }}&gt;R-WT-4 运动达标激励&lt;/Text&gt;&#10;          &lt;Text style={{ fontSize: 14, color: '#4A5568' }}&gt;≥8000 步 或 ≥150 分钟 / 周&lt;/Text&gt;&#10;        &lt;/Box&gt;&#10;        &lt;Box style={{ background: '#F0F5FC', borderRadius: 8, padding: '10px 12px', flex: 1 }}&gt;&#10;          &lt;Text style={{ fontSize: 16, fontWeight: 'bold', color: '#1A2230' }}&gt;R-WT-5 勋章进度跟进&lt;/Text&gt;&#10;          &lt;Text style={{ fontSize: 14, color: '#4A5568' }}&gt;展示未解锁勋章进度与目标&lt;/Text&gt;&#10;        &lt;/Box&gt;&#10;      &lt;/Box&gt;&#10;    &lt;/Box&gt;&#10;  &lt;/Box&gt;&#10;  {/* 底部锚点条 */}&#10;  &lt;Box style={{ height: 52, background: '#1E4FA8', flexDirection: 'row', alignItems: 'center', justifyContent: 'center', gap: 14 }}&gt;&#10;    &lt;Text style={{ fontSize: 19, color: '#FFFFFF', fontWeight: 600 }}&gt;&#10;      阈值全部写死在 clinicalRules.js，无第二套隐藏阈值 —— 模型只转述，不自定阈值或等级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3581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确定性规则引擎：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13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条规则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495800" y="285750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clinicalRules.js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唯一判定实现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81000" y="952500"/>
            <a:ext cx="3686175" cy="51435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552450" y="1123950"/>
            <a:ext cx="12954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66750" y="11620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血压规则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4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52450" y="1485900"/>
            <a:ext cx="3343275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66750" y="158115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R-BP-1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单次超标提示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66750" y="1771650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单日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≥140/90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且前日未超标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提示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552450" y="2619375"/>
            <a:ext cx="3343275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66750" y="2714625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R-BP-2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连续异常趋势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66750" y="290512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连续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天且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天涨幅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≥10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预警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52450" y="3743325"/>
            <a:ext cx="3343275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66750" y="3838575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R-BP-3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严重超标强预警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66750" y="402907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≥180/110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或伴症状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紧急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52450" y="4876800"/>
            <a:ext cx="3343275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66750" y="497205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R-BP-4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通知紧急联系人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66750" y="5162550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需授权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用户确认，默认不发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257675" y="952500"/>
            <a:ext cx="3676650" cy="5143500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429125" y="1123950"/>
            <a:ext cx="12954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43425" y="11620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血糖规则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4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429125" y="1485900"/>
            <a:ext cx="3333750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543425" y="15811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R-BG-1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单次超标提示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543425" y="17716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空腹血糖超阈值且前日达标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提示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429125" y="2619375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43425" y="2714625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R-BG-2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血糖波动提醒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543425" y="290512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7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天极差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≥1.4 mmol/L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关注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429125" y="3743325"/>
            <a:ext cx="3333750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543425" y="3838575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R-BG-3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控制不佳趋势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543425" y="40290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7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天达标率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&lt;60%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且向上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预警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429125" y="4876800"/>
            <a:ext cx="3333750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543425" y="49720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R-BG-4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复查提醒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543425" y="51625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距上次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HbA1c &gt;3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提示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8124825" y="952500"/>
            <a:ext cx="3686175" cy="51435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8296275" y="1123950"/>
            <a:ext cx="14478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410575" y="1162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体重与行为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5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8296275" y="1485900"/>
            <a:ext cx="3343275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410575" y="158115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R-WT-1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记录达成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 / R-WT-2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减重进展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410575" y="1771650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当日有记录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提示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7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天净减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≥0.5kg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296275" y="2619375"/>
            <a:ext cx="3343275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410575" y="2714625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R-WT-3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短期反弹提醒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410575" y="290512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单日回升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≥0.5kg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柔性关注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8296275" y="3743325"/>
            <a:ext cx="3343275" cy="1057275"/>
          </a:xfrm>
          <a:prstGeom prst="roundRect">
            <a:avLst>
              <a:gd name="adj" fmla="val 72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410575" y="3838575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R-WT-4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运动达标激励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410575" y="4029075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≥8000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≥150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分钟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296275" y="4876800"/>
            <a:ext cx="3343275" cy="1047750"/>
          </a:xfrm>
          <a:prstGeom prst="roundRect">
            <a:avLst>
              <a:gd name="adj" fmla="val 72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410575" y="497205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R-WT-5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勋章进度跟进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410575" y="5162550"/>
            <a:ext cx="3114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展示未解锁勋章进度与目标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0" y="6286500"/>
            <a:ext cx="121920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2447925" y="6429375"/>
            <a:ext cx="7296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阈值全部写死在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clinicalRules.js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，无第二套隐藏阈值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模型只转述，不自定阈值或等级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5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四级预警等级与唯一裁定链&lt;/Text&gt;&#10;    &lt;Text style={{ fontSize: 17, color: '#C9D8F0', marginLeft: 18 }}&gt;产品等级 ≠ 医学危险分层&lt;/Text&gt;&#10;  &lt;/Box&gt;&#10;  {/* 内容区 */}&#10;  &lt;Box style={{ height: 580, flexDirection: 'row', padding: '20px 40px', gap: 24 }}&gt;&#10;    {/* 左：四级产品词表 */}&#10;    &lt;Box style={{ width: 400, flexDirection: 'column', gap: 12 }}&gt;&#10;      &lt;Text style={{ fontSize: 20, fontWeight: 'bold', color: '#0E3F8C' }}&gt;四级产品词表&lt;/Text&gt;&#10;      &lt;Box style={{ background: '#FFFFFF', border: '1px solid #D6DCE5', borderRadius: 10, padding: '12px 18px', flex: 1, justifyContent: 'center' }}&gt;&#10;        &lt;Box style={{ flexDirection: 'row', alignItems: 'center', gap: 12 }}&gt;&#10;          &lt;Box style={{ background: '#E8EFF8', borderRadius: 14, padding: '4px 16px' }}&gt;&lt;Text style={{ fontSize: 17, fontWeight: 'bold', color: '#1E4FA8' }}&gt;提示&lt;/Text&gt;&lt;/Box&gt;&#10;          &lt;Text style={{ fontSize: 15, color: '#4A5568' }}&gt;单次轻微异常 · 不落库&lt;/Text&gt;&#10;        &lt;/Box&gt;&#10;      &lt;/Box&gt;&#10;      &lt;Box style={{ background: '#FFFFFF', border: '1px solid #D6DCE5', borderRadius: 10, padding: '12px 18px', flex: 1, justifyContent: 'center' }}&gt;&#10;        &lt;Box style={{ flexDirection: 'row', alignItems: 'center', gap: 12 }}&gt;&#10;          &lt;Box style={{ background: '#3D7BD9', borderRadius: 14, padding: '4px 16px' }}&gt;&lt;Text style={{ fontSize: 17, fontWeight: 'bold', color: '#FFFFFF' }}&gt;关注&lt;/Text&gt;&lt;/Box&gt;&#10;          &lt;Text style={{ fontSize: 15, color: '#4A5568' }}&gt;出现波动或反复 · 落库&lt;/Text&gt;&#10;        &lt;/Box&gt;&#10;      &lt;/Box&gt;&#10;      &lt;Box style={{ background: '#FFFFFF', border: '1px solid #D6DCE5', borderRadius: 10, padding: '12px 18px', flex: 1, justifyContent: 'center' }}&gt;&#10;        &lt;Box style={{ flexDirection: 'row', alignItems: 'center', gap: 12 }}&gt;&#10;          &lt;Box style={{ background: '#1E4FA8', borderRadius: 14, padding: '4px 16px' }}&gt;&lt;Text style={{ fontSize: 17, fontWeight: 'bold', color: '#FFFFFF' }}&gt;预警&lt;/Text&gt;&lt;/Box&gt;&#10;          &lt;Text style={{ fontSize: 15, color: '#4A5568' }}&gt;连续异常趋势 · 落库&lt;/Text&gt;&#10;        &lt;/Box&gt;&#10;      &lt;/Box&gt;&#10;      &lt;Box style={{ background: '#FFFFFF', border: '1px solid #D6DCE5', borderRadius: 10, padding: '12px 18px', flex: 1, justifyContent: 'center' }}&gt;&#10;        &lt;Box style={{ flexDirection: 'row', alignItems: 'center', gap: 12 }}&gt;&#10;          &lt;Box style={{ background: '#D9534F', borderRadius: 14, padding: '4px 16px' }}&gt;&lt;Text style={{ fontSize: 17, fontWeight: 'bold', color: '#FFFFFF' }}&gt;紧急&lt;/Text&gt;&lt;/Box&gt;&#10;          &lt;Text style={{ fontSize: 15, color: '#4A5568' }}&gt;严重超标或急性症状 · 落库&lt;/Text&gt;&#10;        &lt;/Box&gt;&#10;      &lt;/Box&gt;&#10;      &lt;Box style={{ background: '#E8EFF8', borderRadius: 10, padding: '12px 18px' }}&gt;&#10;        &lt;Text style={{ fontSize: 15, color: '#0E3F8C', lineHeight: 1.5 }}&gt;工具层 assessRisk() 只转述：risks[] 等级取自命中项，observations[] 纯描述&lt;/Text&gt;&#10;      &lt;/Box&gt;&#10;    &lt;/Box&gt;&#10;    {/* 右：真实医生端截图 + SVG 裁定链 */}&#10;    &lt;Box style={{ flex: 1, flexDirection: 'column', gap: 12 }}&gt;&#10;      &lt;Image src=&quot;assets/doctor.png&quot; style={{ width: 776, height: 300, objectFit: 'cover', objectPosition: 'top', borderRadius: 12, border: '1px solid #D6DCE5' }} /&gt;&#10;      &lt;Text style={{ fontSize: 14, color: '#8B97A8' }}&gt;▲ 医生工作台：患者预警 / 良好状态徽标来自同一裁定链（真实界面）&lt;/Text&gt;&#10;      &lt;svg width={776} height={190} viewBox='0 0 776 190'&gt;&#10;        &lt;rect x='8' y='55' width='230' height='80' rx='10' fill='#0E3F8C' /&gt;&#10;        &lt;text x='123' y='88' fontSize='16' fontWeight='bold' fill='#FFFFFF' textAnchor='middle'&gt;clinicalRules&lt;/text&gt;&#10;        &lt;text x='123' y='112' fontSize='14' fill='#C9D8F0' textAnchor='middle'&gt;evaluateClinicalRules()&lt;/text&gt;&#10;        &lt;rect x='292' y='55' width='150' height='80' rx='10' fill='#1E4FA8' /&gt;&#10;        &lt;text x='367' y='88' fontSize='15' fontWeight='bold' fill='#FFFFFF' textAnchor='middle'&gt;triggered&lt;/text&gt;&#10;        &lt;text x='367' y='112' fontSize='14' fill='#D8E4F6' textAnchor='middle'&gt;highestLevel&lt;/text&gt;&#10;        &lt;path d='M238 95 L292 95' stroke='#1E4FA8' strokeWidth='3' /&gt;&#10;        &lt;path d='M282 87 L296 95 L282 103 Z' fill='#1E4FA8' /&gt;&#10;        {/* 三路 */}&#10;        &lt;path d='M442 95 L502 40' stroke='#3D7BD9' strokeWidth='2.5' /&gt;&#10;        &lt;path d='M442 95 L502 95' stroke='#3D7BD9' strokeWidth='2.5' /&gt;&#10;        &lt;path d='M442 95 L502 150' stroke='#3D7BD9' strokeWidth='2.5' /&gt;&#10;        &lt;rect x='508' y='18' width='260' height='46' rx='8' fill='#F0F5FC' stroke='#3D7BD9' strokeWidth='1.5' /&gt;&#10;        &lt;text x='638' y='47' fontSize='15' fill='#0E3F8C' textAnchor='middle' fontWeight='bold'&gt;晨报 briefing.risk&lt;/text&gt;&#10;        &lt;rect x='508' y='72' width='260' height='46' rx='8' fill='#F0F5FC' stroke='#3D7BD9' strokeWidth='1.5' /&gt;&#10;        &lt;text x='638' y='101' fontSize='15' fill='#0E3F8C' textAnchor='middle' fontWeight='bold'&gt;alerts 落库（关注及以上）&lt;/text&gt;&#10;        &lt;rect x='508' y='126' width='260' height='46' rx='8' fill='#F0F5FC' stroke='#3D7BD9' strokeWidth='1.5' /&gt;&#10;        &lt;text x='638' y='155' fontSize='15' fill='#0E3F8C' textAnchor='middle' fontWeight='bold'&gt;医生端 evaluation.highestLevel&lt;/text&gt;&#10;      &lt;/svg&gt;&#10;      &lt;Text style={{ fontSize: 15, color: '#D9534F', fontWeight: 600 }}&gt;&#10;        D-2 修复：修复前工具层自带第二套阈值，4 例中 3 例不一致；修复后三级同源，4 患者 4/4 一致&#10;      &lt;/Text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四级预警等级与唯一裁定链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343400" y="285750"/>
            <a:ext cx="1838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产品等级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≠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医学危险分层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1000" y="95250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四级产品词表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81000" y="1295400"/>
            <a:ext cx="38100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552450" y="1609725"/>
            <a:ext cx="628650" cy="276225"/>
          </a:xfrm>
          <a:prstGeom prst="roundRect">
            <a:avLst>
              <a:gd name="adj" fmla="val 4827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04850" y="1647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提示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295400" y="166687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单次轻微异常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不落库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81000" y="2314575"/>
            <a:ext cx="38100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552450" y="2628900"/>
            <a:ext cx="628650" cy="276225"/>
          </a:xfrm>
          <a:prstGeom prst="roundRect">
            <a:avLst>
              <a:gd name="adj" fmla="val 48276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04850" y="2667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关注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295400" y="2686050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出现波动或反复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落库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81000" y="3324225"/>
            <a:ext cx="38100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552450" y="3638550"/>
            <a:ext cx="628650" cy="276225"/>
          </a:xfrm>
          <a:prstGeom prst="roundRect">
            <a:avLst>
              <a:gd name="adj" fmla="val 4827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04850" y="36766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预警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295400" y="369570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连续异常趋势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落库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381000" y="4343400"/>
            <a:ext cx="38100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552450" y="4657725"/>
            <a:ext cx="628650" cy="276225"/>
          </a:xfrm>
          <a:prstGeom prst="roundRect">
            <a:avLst>
              <a:gd name="adj" fmla="val 48276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04850" y="46958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紧急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295400" y="47148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严重超标或急性症状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落库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381000" y="5353050"/>
            <a:ext cx="3810000" cy="742950"/>
          </a:xfrm>
          <a:prstGeom prst="roundRect">
            <a:avLst>
              <a:gd name="adj" fmla="val 1282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52450" y="5467350"/>
            <a:ext cx="3467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工具层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 assessRisk()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只转述：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risks[]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等级取自命中项，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observations[]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纯描述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4419600" y="952500"/>
            <a:ext cx="7391400" cy="2857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1" name=""/>
          <p:cNvPicPr>
            <a:picLocks noChangeAspect="1"/>
          </p:cNvPicPr>
          <p:nvPr/>
        </p:nvPicPr>
        <p:blipFill>
          <a:blip r:embed="rId1"/>
          <a:srcRect l="0" t="15635" r="0" b="15635"/>
          <a:stretch>
            <a:fillRect/>
          </a:stretch>
        </p:blipFill>
        <p:spPr>
          <a:xfrm rot="0" flipH="0" flipV="0">
            <a:off x="4419600" y="952500"/>
            <a:ext cx="7391400" cy="28575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419600" y="3924300"/>
            <a:ext cx="739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医生工作台：患者预警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良好状态徽标来自同一裁定链（真实界面）</a:t>
            </a:r>
            <a:endParaRPr/>
          </a:p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19600" y="4200525"/>
            <a:ext cx="7391400" cy="18097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419600" y="6124575"/>
            <a:ext cx="739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D-2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修复：修复前工具层自带第二套阈值，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4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例中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 3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例不一致；修复后三级同源，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4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患者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 4/4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一致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健康评分：规则分与 AI 辅助分&lt;/Text&gt;&#10;    &lt;Text style={{ fontSize: 17, color: '#C9D8F0', marginLeft: 18 }}&gt;一个官方分 · 一个参考分&lt;/Text&gt;&#10;  &lt;/Box&gt;&#10;  {/* 内容区 */}&#10;  &lt;Box style={{ height: 580, flexDirection: 'row', padding: '24px 40px', gap: 24 }}&gt;&#10;    {/* 左：深蓝 Hero 卡（巨型数字） */}&#10;    &lt;Box style={{ width: 430, background: '#0E3F8C', borderRadius: 14, padding: '30px 34px', flexDirection: 'column', justifyContent: 'center' }}&gt;&#10;      &lt;Text style={{ fontSize: 20, color: '#8B9CC4' }}&gt;Rule Score · 唯一官方健康分&lt;/Text&gt;&#10;      &lt;Box style={{ flexDirection: 'row', alignItems: 'flex-end', gap: 10, marginTop: 10 }}&gt;&#10;        &lt;Text style={{ fontSize: 130, fontWeight: 'bold', color: '#FFFFFF', lineHeight: 1 }}&gt;100&lt;/Text&gt;&#10;        &lt;Text style={{ fontSize: 26, color: '#8B9CC4', paddingBottom: 16 }}&gt;分满分&lt;/Text&gt;&#10;      &lt;/Box&gt;&#10;      &lt;Box style={{ width: 70, height: 4, background: '#FFC107', margin: '18px 0' }} /&gt;&#10;      &lt;Text style={{ fontSize: 18, color: '#D8E4F6', lineHeight: 1.7 }}&gt;&#10;        代码硬算 · 确定可复现&lt;br /&gt;前后端共用同一实现&lt;br /&gt;不随当日有无数据漂移&#10;      &lt;/Text&gt;&#10;      &lt;Box style={{ marginTop: 22, background: 'rgba(255,255,255,0.10)', borderRadius: 10, padding: '12px 16px' }}&gt;&#10;        &lt;Text style={{ fontSize: 16, color: '#FFFFFF', lineHeight: 1.6 }}&gt;&#10;          ≥85 优秀 · ≥70 良好&lt;br /&gt;≥55 一般 · &amp;lt;55 需干预&#10;        &lt;/Text&gt;&#10;      &lt;/Box&gt;&#10;    &lt;/Box&gt;&#10;    {/* 右：权重 + 两层 + 硬约束 */}&#10;    &lt;Box style={{ flex: 1, flexDirection: 'column', gap: 14 }}&gt;&#10;      {/* 四维权重 */}&#10;      &lt;Box style={{ flexDirection: 'row', gap: 12 }}&gt;&#10;        &lt;Box style={{ flex: 1, background: '#FFFFFF', border: '1px solid #D6DCE5', borderRadius: 10, padding: '12px 14px', alignItems: 'center' }}&gt;&#10;          &lt;Text style={{ fontSize: 30, fontWeight: 'bold', color: '#1E4FA8' }}&gt;30&lt;/Text&gt;&#10;          &lt;Text style={{ fontSize: 15, color: '#4A5568' }}&gt;步数 ≥8000&lt;/Text&gt;&#10;        &lt;/Box&gt;&#10;        &lt;Box style={{ flex: 1, background: '#FFFFFF', border: '1px solid #D6DCE5', borderRadius: 10, padding: '12px 14px', alignItems: 'center' }}&gt;&#10;          &lt;Text style={{ fontSize: 30, fontWeight: 'bold', color: '#1E4FA8' }}&gt;25&lt;/Text&gt;&#10;          &lt;Text style={{ fontSize: 15, color: '#4A5568' }}&gt;血压 ≤130&lt;/Text&gt;&#10;        &lt;/Box&gt;&#10;        &lt;Box style={{ flex: 1, background: '#FFFFFF', border: '1px solid #D6DCE5', borderRadius: 10, padding: '12px 14px', alignItems: 'center' }}&gt;&#10;          &lt;Text style={{ fontSize: 30, fontWeight: 'bold', color: '#1E4FA8' }}&gt;25&lt;/Text&gt;&#10;          &lt;Text style={{ fontSize: 15, color: '#4A5568' }}&gt;血糖 ≤6.1&lt;/Text&gt;&#10;        &lt;/Box&gt;&#10;        &lt;Box style={{ flex: 1, background: '#FFFFFF', border: '1px solid #D6DCE5', borderRadius: 10, padding: '12px 14px', alignItems: 'center' }}&gt;&#10;          &lt;Text style={{ fontSize: 30, fontWeight: 'bold', color: '#1E4FA8' }}&gt;20&lt;/Text&gt;&#10;          &lt;Text style={{ fontSize: 15, color: '#4A5568' }}&gt;运动 ≥150 分/周&lt;/Text&gt;&#10;        &lt;/Box&gt;&#10;      &lt;/Box&gt;&#10;      {/* 两层评分 */}&#10;      &lt;Box style={{ background: '#FFFFFF', border: '1px solid #D6DCE5', borderRadius: 10, padding: '14px 20px', flexDirection: 'column', gap: 8 }}&gt;&#10;        &lt;Text style={{ fontSize: 18, fontWeight: 'bold', color: '#0E3F8C' }}&gt;两层评分（互不替代）&lt;/Text&gt;&#10;        &lt;Text style={{ fontSize: 16, color: '#4A5568' }}&gt;&#10;          &lt;span style={{ fontWeight: 'bold', color: '#1E4FA8' }}&gt;规则分 Rule Score&lt;/span&gt;　官方健康分，代码硬算、唯一对外展示&#10;        &lt;/Text&gt;&#10;        &lt;Text style={{ fontSize: 16, color: '#4A5568' }}&gt;&#10;          &lt;span style={{ fontWeight: 'bold', color: '#1E4FA8' }}&gt;AI 辅助分&lt;/span&gt;　规则分 + 可解释微调，仅同屏参考、不落库&#10;        &lt;/Text&gt;&#10;        &lt;Text style={{ fontSize: 14, color: '#8B97A8' }}&gt;&#10;          模型不直接给分，只提供调整项与理由（经六条硬约束校验），故不构成一层评分&#10;        &lt;/Text&gt;&#10;      &lt;/Box&gt;&#10;      {/* 六条硬约束 */}&#10;      &lt;Box style={{ background: '#E8EFF8', borderRadius: 10, padding: '14px 20px', flexDirection: 'column', gap: 8, flex: 1, justifyContent: 'center' }}&gt;&#10;        &lt;Text style={{ fontSize: 18, fontWeight: 'bold', color: '#0E3F8C' }}&gt;AI 调分六条硬约束（JSON Schema 校验，不过即整包丢弃）&lt;/Text&gt;&#10;        &lt;Text style={{ fontSize: 16, color: '#1A2230', lineHeight: 1.7 }}&gt;&#10;          ① 最多调 4 个维度　② 只适用非满分维度　③ 同一维度不得重复调&lt;br /&gt;&#10;          ④ 每次 |Δ|≤5 且为整数　⑤ 理由 1–80 字　⑥ Σ|Δ|≤10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391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健康评分：规则分与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辅助分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829175" y="28575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一个官方分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一个参考分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1000" y="990600"/>
            <a:ext cx="4095750" cy="5067300"/>
          </a:xfrm>
          <a:prstGeom prst="roundRect">
            <a:avLst>
              <a:gd name="adj" fmla="val 325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04850" y="1390650"/>
            <a:ext cx="3448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CC4"/>
                </a:solidFill>
                <a:latin typeface="Microsoft YaHei"/>
                <a:ea typeface="Microsoft YaHei"/>
              </a:rPr>
              <a:t>Rule Score · </a:t>
            </a:r>
            <a:r>
              <a:rPr lang="zh-CN" sz="1500">
                <a:solidFill>
                  <a:srgbClr val="8B9CC4"/>
                </a:solidFill>
                <a:latin typeface="Microsoft YaHei"/>
                <a:ea typeface="Microsoft YaHei"/>
              </a:rPr>
              <a:t>唯一官方健康分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04850" y="1714500"/>
            <a:ext cx="2295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FFFFFF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095625" y="2743200"/>
            <a:ext cx="742950" cy="457200"/>
          </a:xfrm>
          <a:prstGeom prst="rect"/>
        </p:spPr>
        <p:txBody>
          <a:bodyPr wrap="none" lIns="0" tIns="0" rIns="0" bIns="114300"/>
          <a:p>
            <a:pPr>
              <a:lnSpc>
                <a:spcPct val="100000"/>
              </a:lnSpc>
            </a:pPr>
            <a:r>
              <a:rPr lang="zh-CN" sz="1950">
                <a:solidFill>
                  <a:srgbClr val="8B9CC4"/>
                </a:solidFill>
                <a:latin typeface="Microsoft YaHei"/>
                <a:ea typeface="Microsoft YaHei"/>
              </a:rPr>
              <a:t>分满分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04850" y="3371850"/>
            <a:ext cx="66675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04850" y="3581400"/>
            <a:ext cx="3448050" cy="1057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D8E4F6"/>
                </a:solidFill>
                <a:latin typeface="Microsoft YaHei"/>
                <a:ea typeface="Microsoft YaHei"/>
              </a:rPr>
              <a:t>代码硬算</a:t>
            </a:r>
            <a:r>
              <a:rPr lang="en-US" sz="1350">
                <a:solidFill>
                  <a:srgbClr val="D8E4F6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D8E4F6"/>
                </a:solidFill>
                <a:latin typeface="Microsoft YaHei"/>
                <a:ea typeface="Microsoft YaHei"/>
              </a:rPr>
              <a:t>确定可复现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D8E4F6"/>
                </a:solidFill>
                <a:latin typeface="Microsoft YaHei"/>
                <a:ea typeface="Microsoft YaHei"/>
              </a:rPr>
              <a:t>前后端共用同一实现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D8E4F6"/>
                </a:solidFill>
                <a:latin typeface="Microsoft YaHei"/>
                <a:ea typeface="Microsoft YaHei"/>
              </a:rPr>
              <a:t>不随当日有无数据漂移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04850" y="4848225"/>
            <a:ext cx="3448050" cy="819150"/>
          </a:xfrm>
          <a:prstGeom prst="roundRect">
            <a:avLst>
              <a:gd name="adj" fmla="val 11628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57250" y="4962525"/>
            <a:ext cx="31432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≥85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优秀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· ≥70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良好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≥55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一般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· &lt;55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需干预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4705350" y="990600"/>
            <a:ext cx="16954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372100" y="11049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172075" y="1447800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步数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≥8000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515100" y="990600"/>
            <a:ext cx="16859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181850" y="11049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19925" y="14478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血压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≤130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315325" y="990600"/>
            <a:ext cx="16954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82075" y="11049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848725" y="1447800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血糖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≤6.1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10125075" y="990600"/>
            <a:ext cx="1685925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791825" y="11049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429875" y="1447800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运动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≥150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705350" y="1866900"/>
            <a:ext cx="7105650" cy="1247775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895850" y="2000250"/>
            <a:ext cx="672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两层评分（互不替代）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895850" y="2286000"/>
            <a:ext cx="672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规则分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Rule Score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官方健康分，代码硬算、唯一对外展示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895850" y="2552700"/>
            <a:ext cx="6724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辅助分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规则分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可解释微调，仅同屏参考、不落库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895850" y="2819400"/>
            <a:ext cx="672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模型不直接给分，只提供调整项与理由（经六条硬约束校验），故不构成一层评分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705350" y="3248025"/>
            <a:ext cx="7105650" cy="2809875"/>
          </a:xfrm>
          <a:prstGeom prst="roundRect">
            <a:avLst>
              <a:gd name="adj" fmla="val 339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895850" y="4200525"/>
            <a:ext cx="672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调分六条硬约束（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JSON Schema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校验，不过即整包丢弃）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895850" y="4486275"/>
            <a:ext cx="67246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最多调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个维度　②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只适用非满分维度　③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同一维度不得重复调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④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每次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|Δ|≤5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且为整数　⑤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理由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1–80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字　⑥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Σ|Δ|≤10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width: 1280, height: 720, background: '#F7F9FC', flexDirection: 'column' }}&gt;&#10;  {/* 顶部深蓝条 */}&#10;  &lt;Box style={{ width: '100%', height: 10, background: '#0E3F8C' }} /&gt;&#10;  &lt;Box style={{ height: 670, flexDirection: 'row', alignItems: 'center', padding: '0 110px', gap: 80 }}&gt;&#10;    {/* 左大数字 */}&#10;    &lt;Text style={{ fontSize: 220, fontWeight: 'bold', color: '#1E4FA8', opacity: 0.16 }}&gt;03&lt;/Text&gt;&#10;    {/* 右标题与要点 */}&#10;    &lt;Box style={{ flex: 1, height: 670, flexDirection: 'column', justifyContent: 'center', gap: 16 }}&gt;&#10;      &lt;Box style={{ flexDirection: 'row', alignItems: 'center', gap: 16 }}&gt;&#10;        &lt;Box style={{ width: 8, height: 44, background: '#1E4FA8' }} /&gt;&#10;        &lt;Text style={{ fontSize: 44, fontWeight: 'bold', color: '#0E3F8C' }}&gt;任务管理、权限边界与验收&lt;/Text&gt;&#10;      &lt;/Box&gt;&#10;      &lt;Text style={{ fontSize: 19, color: '#4A5568', lineHeight: 1.6 }}&gt;&#10;        AI 只说不做，做必走契约：任务实时派生、医生覆盖契约、&lt;br /&gt;&#10;        写入面白名单制，最后用 457 条断言证明以上全部属实。&#10;      &lt;/Text&gt;&#10;      &lt;Box style={{ flexDirection: 'column', gap: 10 }}&gt;&#10;        &lt;Box style={{ flexDirection: 'row', alignItems: 'center', gap: 14 }}&gt;&#10;          &lt;Box style={{ width: 10, height: 10, borderRadius: 5, background: '#1E4FA8' }} /&gt;&#10;          &lt;Text style={{ fontSize: 19, color: '#1A2230' }}&gt;今日任务由 buildDailyTasks() 实时生成，不落库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AI 调分必须医生确认，写入面白名单 12 张表&lt;/Text&gt;&#10;        &lt;/Box&gt;&#10;        &lt;Box style={{ flexDirection: 'row', alignItems: 'center', gap: 14 }}&gt;&#10;          &lt;Box style={{ width: 10, height: 10, borderRadius: 5, background: '#1E4FA8' }} /&gt;&#10;          &lt;Text style={{ fontSize: 19, color: '#1A2230' }}&gt;15 个验收脚本 · 456/457 断言通过 · 诚实报告&lt;/Text&gt;&#10;        &lt;/Box&gt;&#10;      &lt;/Box&gt;&#10;    &lt;/Box&gt;&#10;  &lt;/Box&gt;&#10;  &lt;Box style={{ width: '100%', height: 40, flexDirection: 'row', justifyContent: 'space-between', alignItems: 'center', padding: '0 40px' }}&gt;&#10;    &lt;Text style={{ fontSize: 14, color: '#8B97A8' }}&gt;迈康 MyCare · 答辩演示&lt;/Text&gt;&#10;    &lt;Text style={{ fontSize: 14, color: '#1E4FA8' }}&gt;11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4400550" y="2162175"/>
            <a:ext cx="762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629150" y="2114550"/>
            <a:ext cx="5029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任务管理、权限边界与验收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400550" y="2771775"/>
            <a:ext cx="67437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只说不做，做必走契约：任务实时派生、医生覆盖契约、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写入面白名单制，最后用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457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条断言证明以上全部属实。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400550" y="3686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629150" y="36195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今日任务由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buildDailyTasks()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实时生成，不落库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400550" y="4000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629150" y="3933825"/>
            <a:ext cx="3638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调分必须医生确认，写入面白名单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12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440055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629150" y="4248150"/>
            <a:ext cx="3695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15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个验收脚本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· 456/457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断言通过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诚实报告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答辩演示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47750" y="2028825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1E4FA8">
                    <a:alpha val="16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8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今日任务生成与医生覆盖契约&lt;/Text&gt;&#10;    &lt;Text style={{ fontSize: 17, color: '#C9D8F0', marginLeft: 18 }}&gt;buildDailyTasks() 实时生成 · 不落库&lt;/Text&gt;&#10;  &lt;/Box&gt;&#10;  {/* 内容区 */}&#10;  &lt;Box style={{ height: 580, flexDirection: 'row', padding: '20px 40px', gap: 24 }}&gt;&#10;    {/* 左：真实首页截图 + 任务频次 */}&#10;    &lt;Box style={{ flex: 1, flexDirection: 'column', gap: 12 }}&gt;&#10;      &lt;Image src=&quot;assets/home.png&quot; style={{ width: 560, height: 316, objectFit: 'cover', borderRadius: 12, border: '1px solid #D6DCE5' }} /&gt;&#10;      &lt;Text style={{ fontSize: 14, color: '#8B97A8' }}&gt;▲ 患者端首页「今日任务」：点击卡片跳转录入页，服药原地弹打卡（真实界面）&lt;/Text&gt;&#10;      &lt;Box style={{ background: '#FFFFFF', border: '1px solid #D6DCE5', borderRadius: 10, padding: '10px 16px', flex: 1 }}&gt;&#10;        &lt;Text style={{ fontSize: 16, fontWeight: 'bold', color: '#0E3F8C', marginBottom: 6 }}&gt;任务频次与完成判定&lt;/Text&gt;&#10;        &lt;Text style={{ fontSize: 15, color: '#4A5568', lineHeight: 1.65 }}&gt;&#10;          血压 每日 2 次（当日 ≥2 条有效）· 血糖空腹 每日 1 次&lt;br /&gt;&#10;          体重 每周 2 次 · 运动 当日 ≥8000 步 · 用药 当日全勾&#10;        &lt;/Text&gt;&#10;      &lt;/Box&gt;&#10;    &lt;/Box&gt;&#10;    {/* 右：五条红线 + 提案状态机 */}&#10;    &lt;Box style={{ width: 580, flexDirection: 'column', gap: 14 }}&gt;&#10;      &lt;Box style={{ background: '#FFFFFF', border: '1px solid #D6DCE5', borderRadius: 10, padding: '16px 20px', flexDirection: 'column', gap: 8 }}&gt;&#10;        &lt;Text style={{ fontSize: 18, fontWeight: 'bold', color: '#0E3F8C' }}&gt;医生覆盖五条红线&lt;/Text&gt;&#10;        &lt;Text style={{ fontSize: 16, color: '#4A5568', lineHeight: 1.7 }}&gt;&#10;          ① 不得修改任何事实层读数　② 不得删除用户原始记录&lt;br /&gt;&#10;          ③ 不得自行新增诊断或处方结论　④ 调分提案须医生显式确认&lt;br /&gt;&#10;          ⑤ 所有操作写 audit_logs，可追溯&#10;        &lt;/Text&gt;&#10;      &lt;/Box&gt;&#10;      &lt;Box style={{ background: '#FFFFFF', border: '1px solid #D6DCE5', borderRadius: 10, padding: '16px 20px', flexDirection: 'column', gap: 10, flex: 1, justifyContent: 'center' }}&gt;&#10;        &lt;Text style={{ fontSize: 18, fontWeight: 'bold', color: '#0E3F8C' }}&gt;调分提案状态机&lt;/Text&gt;&#10;        &lt;Box style={{ flexDirection: 'row', alignItems: 'center', gap: 10 }}&gt;&#10;          &lt;Box style={{ background: '#E8EFF8', borderRadius: 8, padding: '10px 18px' }}&gt;&#10;            &lt;Text style={{ fontSize: 16, fontWeight: 'bold', color: '#1E4FA8' }}&gt;pending_review&lt;/Text&gt;&#10;          &lt;/Box&gt;&#10;          &lt;svg width={60} height={24} viewBox='0 0 60 24'&gt;&#10;            &lt;path d='M4 12 L48 12' stroke='#1E4FA8' strokeWidth='3' /&gt;&#10;            &lt;path d='M44 4 L56 12 L44 20 Z' fill='#1E4FA8' /&gt;&#10;          &lt;/svg&gt;&#10;          &lt;Box style={{ background: '#1E4FA8', borderRadius: 8, padding: '10px 16px' }}&gt;&#10;            &lt;Text style={{ fontSize: 16, fontWeight: 'bold', color: '#FFFFFF' }}&gt;approved&lt;/Text&gt;&#10;          &lt;/Box&gt;&#10;          &lt;Text style={{ fontSize: 14, color: '#8B97A8' }}&gt;或&lt;/Text&gt;&#10;          &lt;Box style={{ background: '#FFFFFF', border: '2px solid #D9534F', borderRadius: 8, padding: '8px 14px' }}&gt;&#10;            &lt;Text style={{ fontSize: 16, fontWeight: 'bold', color: '#D9534F' }}&gt;rejected&lt;/Text&gt;&#10;          &lt;/Box&gt;&#10;        &lt;/Box&gt;&#10;        &lt;Text style={{ fontSize: 16, color: '#4A5568', lineHeight: 1.6 }}&gt;&#10;          只有 approved 才写入覆盖层；未确认的提案对用户不可见、不影响官方分——审结前患者端逐字节不变。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今日任务生成与医生覆盖契约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629150" y="285750"/>
            <a:ext cx="260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buildDailyTasks()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实时生成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不落库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952500"/>
            <a:ext cx="5334000" cy="30099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 r:embed="rId1"/>
          <a:srcRect l="158" t="0" r="158" b="0"/>
          <a:stretch>
            <a:fillRect/>
          </a:stretch>
        </p:blipFill>
        <p:spPr>
          <a:xfrm rot="0" flipH="0" flipV="0">
            <a:off x="381000" y="952500"/>
            <a:ext cx="5334000" cy="3009900"/>
          </a:xfrm>
          <a:prstGeom prst="roundRect">
            <a:avLst>
              <a:gd name="adj" fmla="val 3797"/>
            </a:avLst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1000" y="40767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患者端首页「今日任务」：点击卡片跳转录入页，服药原地弹打卡（真实界面）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81000" y="4352925"/>
            <a:ext cx="5676900" cy="1743075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3400" y="4448175"/>
            <a:ext cx="537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任务频次与完成判定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3400" y="4695825"/>
            <a:ext cx="537210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血压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次（当日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≥2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条有效）·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血糖空腹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次</a:t>
            </a:r>
            <a:endParaRPr/>
          </a:p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体重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运动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当日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≥8000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当日全勾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86500" y="952500"/>
            <a:ext cx="5524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477000" y="1104900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医生覆盖五条红线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477000" y="1390650"/>
            <a:ext cx="514350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不得修改任何事实层读数　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不得删除用户原始记录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不得自行新增诊断或处方结论　④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调分提案须医生显式确认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⑤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所有操作写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audit_logs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，可追溯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286500" y="2609850"/>
            <a:ext cx="5524500" cy="3486150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477000" y="3667125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调分提案状态机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477000" y="3971925"/>
            <a:ext cx="1552575" cy="381000"/>
          </a:xfrm>
          <a:prstGeom prst="roundRect">
            <a:avLst>
              <a:gd name="adj" fmla="val 2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648450" y="4067175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pending_review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24825" y="4048125"/>
            <a:ext cx="571500" cy="228600"/>
          </a:xfrm>
          <a:prstGeom prst="rect">
            <a:avLst/>
          </a:prstGeom>
          <a:ln/>
        </p:spPr>
      </p:pic>
      <p:sp>
        <p:nvSpPr>
          <p:cNvPr id="88" name=""/>
          <p:cNvSpPr/>
          <p:nvPr/>
        </p:nvSpPr>
        <p:spPr>
          <a:xfrm rot="0" flipH="0" flipV="0">
            <a:off x="8791575" y="3971925"/>
            <a:ext cx="1038225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943975" y="4067175"/>
            <a:ext cx="73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approved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925050" y="40862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或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0153650" y="3990975"/>
            <a:ext cx="8858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287000" y="4067175"/>
            <a:ext cx="61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534F"/>
                </a:solidFill>
                <a:latin typeface="Microsoft YaHei"/>
                <a:ea typeface="Microsoft YaHei"/>
              </a:rPr>
              <a:t>rejected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477000" y="4448175"/>
            <a:ext cx="5143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approved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才写入覆盖层；未确认的提案对用户不可见、不影响官方分——审结前患者端逐字节不变。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6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AI 权限边界与写入面&lt;/Text&gt;&#10;    &lt;Text style={{ fontSize: 17, color: '#C9D8F0', marginLeft: 18 }}&gt;AI 只说不做 · 做必走契约&lt;/Text&gt;&#10;  &lt;/Box&gt;&#10;  {/* 内容区 */}&#10;  &lt;Box style={{ height: 580, flexDirection: 'row', padding: '20px 40px', gap: 24 }}&gt;&#10;    {/* 左：原则卡 + 真实建议页截图 */}&#10;    &lt;Box style={{ width: 440, flexDirection: 'column', gap: 14 }}&gt;&#10;      &lt;Box style={{ background: '#0E3F8C', borderRadius: 12, padding: '18px 22px' }}&gt;&#10;        &lt;Text style={{ fontSize: 19, color: '#FFFFFF', fontWeight: 600, lineHeight: 1.6 }}&gt;&#10;          AI 只产出自然语言解释与结构化提案；真正落库必须经用户或医生确认。&#10;        &lt;/Text&gt;&#10;      &lt;/Box&gt;&#10;      &lt;Image src=&quot;assets/prescription.png&quot; style={{ width: 440, height: 248, objectFit: 'cover', borderRadius: 12, border: '1px solid #D6DCE5' }} /&gt;&#10;      &lt;Text style={{ fontSize: 14, color: '#8B97A8' }}&gt;▲ 健康建议页：模型只负责「怎么说」，内容由规则与处方契约生成（真实界面）&lt;/Text&gt;&#10;      &lt;Box style={{ background: '#E8EFF8', borderRadius: 10, padding: '12px 18px', flex: 1, justifyContent: 'center' }}&gt;&#10;        &lt;Text style={{ fontSize: 15, color: '#0E3F8C', lineHeight: 1.6 }}&gt;模型不可用时走确定性降级通道（mockChat），主流程不依赖模型、降级开关可控。&lt;/Text&gt;&#10;      &lt;/Box&gt;&#10;    &lt;/Box&gt;&#10;    {/* 右：7 件不能做 + 写入面白名单 */}&#10;    &lt;Box style={{ flex: 1, flexDirection: 'column', gap: 14 }}&gt;&#10;      &lt;Box style={{ background: '#FFFFFF', border: '1px solid #D6DCE5', borderRadius: 10, padding: '16px 20px' }}&gt;&#10;        &lt;Text style={{ fontSize: 18, fontWeight: 'bold', color: '#0E3F8C', marginBottom: 8 }}&gt;AI 不能做的 7 件事&lt;/Text&gt;&#10;        &lt;Text style={{ fontSize: 16, color: '#4A5568', lineHeight: 1.75 }}&gt;&#10;          ① 不能直接写入任何健康读数　　② 不能自定规则阈值或预警等级&lt;br /&gt;&#10;          ③ 不能直接修改 Rule Score　　④ 不能跳过医生确认发通知&lt;br /&gt;&#10;          ⑤ 不能删除覆盖用户原始记录　　⑥ 不能输出诊断或处方结论&lt;br /&gt;&#10;          ⑦ 不能写入超出白名单的表&#10;        &lt;/Text&gt;&#10;      &lt;/Box&gt;&#10;      &lt;Box style={{ background: '#FFFFFF', border: '1px solid #D6DCE5', borderRadius: 10, padding: '16px 20px', flex: 1, flexDirection: 'column', justifyContent: 'center', gap: 10 }}&gt;&#10;        &lt;Text style={{ fontSize: 18, fontWeight: 'bold', color: '#0E3F8C' }}&gt;写入面白名单制&lt;/Text&gt;&#10;        &lt;Box style={{ flexDirection: 'row', gap: 12 }}&gt;&#10;          &lt;Box style={{ flex: 1, background: '#F0F5FC', borderRadius: 8, padding: '12px 16px' }}&gt;&#10;            &lt;Text style={{ fontSize: 26, fontWeight: 'bold', color: '#1E4FA8' }}&gt;12 张&lt;/Text&gt;&#10;            &lt;Text style={{ fontSize: 15, color: '#4A5568' }}&gt;数据库白名单表&lt;/Text&gt;&#10;          &lt;/Box&gt;&#10;          &lt;Box style={{ flex: 1, background: '#F0F5FC', borderRadius: 8, padding: '12px 16px' }}&gt;&#10;            &lt;Text style={{ fontSize: 26, fontWeight: 'bold', color: '#1E4FA8' }}&gt;5 个&lt;/Text&gt;&#10;            &lt;Text style={{ fontSize: 15, color: '#4A5568' }}&gt;JSON 契约文件&lt;/Text&gt;&#10;          &lt;/Box&gt;&#10;          &lt;Box style={{ flex: 1, background: '#F0F5FC', borderRadius: 8, padding: '12px 16px' }}&gt;&#10;            &lt;Text style={{ fontSize: 26, fontWeight: 'bold', color: '#1E4FA8' }}&gt;全量&lt;/Text&gt;&#10;            &lt;Text style={{ fontSize: 15, color: '#4A5568' }}&gt;写操作入审计日志&lt;/Text&gt;&#10;          &lt;/Box&gt;&#10;        &lt;/Box&gt;&#10;        &lt;Text style={{ fontSize: 15, color: '#4A5568', lineHeight: 1.6 }}&gt;&#10;          用户确认后：读数 / 用药 / 任务完成 · 医生确认后：调分提案 / 审核意见 · 系统自动：预警落库 / 审计日志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2686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权限边界与写入面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600450" y="2857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AI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只说不做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做必走契约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81000" y="952500"/>
            <a:ext cx="4191000" cy="1038225"/>
          </a:xfrm>
          <a:prstGeom prst="roundRect">
            <a:avLst>
              <a:gd name="adj" fmla="val 1100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90550" y="1123950"/>
            <a:ext cx="37719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只产出自然语言解释与结构化提案；真正落库必须经用户或医生确认。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2124075"/>
            <a:ext cx="4191000" cy="23622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5" name=""/>
          <p:cNvPicPr>
            <a:picLocks noChangeAspect="1"/>
          </p:cNvPicPr>
          <p:nvPr/>
        </p:nvPicPr>
        <p:blipFill>
          <a:blip r:embed="rId1"/>
          <a:srcRect l="100" t="0" r="100" b="0"/>
          <a:stretch>
            <a:fillRect/>
          </a:stretch>
        </p:blipFill>
        <p:spPr>
          <a:xfrm rot="0" flipH="0" flipV="0">
            <a:off x="381000" y="2124075"/>
            <a:ext cx="4191000" cy="2362200"/>
          </a:xfrm>
          <a:prstGeom prst="roundRect">
            <a:avLst>
              <a:gd name="adj" fmla="val 4839"/>
            </a:avLst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4619625"/>
            <a:ext cx="41910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健康建议页：模型只负责「怎么说」，内容由规则与处方契约生成（真实界面）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5076825"/>
            <a:ext cx="4191000" cy="1019175"/>
          </a:xfrm>
          <a:prstGeom prst="roundRect">
            <a:avLst>
              <a:gd name="adj" fmla="val 934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52450" y="5314950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模型不可用时走确定性降级通道（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mockChat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），主流程不依赖模型、降级开关可控。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800600" y="952500"/>
            <a:ext cx="7010400" cy="1876425"/>
          </a:xfrm>
          <a:prstGeom prst="roundRect">
            <a:avLst>
              <a:gd name="adj" fmla="val 507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991100" y="1104900"/>
            <a:ext cx="662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不能做的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7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件事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991100" y="1390650"/>
            <a:ext cx="6629400" cy="1285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不能直接写入任何健康读数　　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不能自定规则阈值或预警等级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不能直接修改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Rule Score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　④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不能跳过医生确认发通知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⑤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不能删除覆盖用户原始记录　　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不能输出诊断或处方结论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⑦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不能写入超出白名单的表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800600" y="2962275"/>
            <a:ext cx="7010400" cy="3133725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91100" y="3705225"/>
            <a:ext cx="662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写入面白名单制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991100" y="4010025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143500" y="4124325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12 </a:t>
            </a: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143500" y="44291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数据库白名单表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239000" y="4010025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391400" y="4124325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5 </a:t>
            </a: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391400" y="44291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JSON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契约文件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9486900" y="4010025"/>
            <a:ext cx="2133600" cy="704850"/>
          </a:xfrm>
          <a:prstGeom prst="roundRect">
            <a:avLst>
              <a:gd name="adj" fmla="val 108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639300" y="4124325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全量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639300" y="44291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写操作入审计日志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6629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用户确认后：读数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任务完成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医生确认后：调分提案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审核意见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系统自动：预警落库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审计日志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style={{ width: 1280, height: 720, background: '#F7F9FC', flexDirection: 'column' }}&gt;&#10;  {/* 页眉 A3 */}&#10;  &lt;Box style={{ width: '100%', height: 80, background: '#0E3F8C', flexDirection: 'row', alignItems: 'center', padding: '0 40px', gap: 16 }}&gt;&#10;    &lt;Box style={{ width: 6, height: 36, background: '#FFC107' }} /&gt;&#10;    &lt;Text style={{ fontSize: 30, fontWeight: 'bold', color: '#FFFFFF' }}&gt;系统边界与验收证据&lt;/Text&gt;&#10;    &lt;Text style={{ fontSize: 17, color: '#C9D8F0', marginLeft: 18 }}&gt;456 / 457 断言通过 · 诚实报告&lt;/Text&gt;&#10;  &lt;/Box&gt;&#10;  {/* 内容区 */}&#10;  &lt;Box style={{ height: 580, flexDirection: 'column', padding: '20px 40px', gap: 18 }}&gt;&#10;    {/* KPI 三联 */}&#10;    &lt;Box style={{ flexDirection: 'row', gap: 20, alignItems: 'center' }}&gt;&#10;      &lt;Box style={{ flex: 1.4, background: '#0E3F8C', borderRadius: 12, padding: '16px 26px', flexDirection: 'row', alignItems: 'flex-end', gap: 12 }}&gt;&#10;        &lt;Text style={{ fontSize: 76, fontWeight: 'bold', color: '#FFFFFF', lineHeight: 1 }}&gt;456/457&lt;/Text&gt;&#10;        &lt;Text style={{ fontSize: 18, color: '#8B9CC4', paddingBottom: 10 }}&gt;断言通过 · 99.8%&lt;/Text&gt;&#10;      &lt;/Box&gt;&#10;      &lt;Box style={{ flex: 1, background: '#FFFFFF', border: '1px solid #D6DCE5', borderRadius: 12, padding: '16px 24px', justifyContent: 'center' }}&gt;&#10;        &lt;Text style={{ fontSize: 44, fontWeight: 'bold', color: '#1E4FA8' }}&gt;15 个&lt;/Text&gt;&#10;        &lt;Text style={{ fontSize: 16, color: '#4A5568' }}&gt;确定性验收脚本 · 副本库运行 · 真实库零改动&lt;/Text&gt;&#10;      &lt;/Box&gt;&#10;      &lt;Box style={{ flex: 1, background: '#FFFFFF', border: '1px solid #D6DCE5', borderRadius: 12, padding: '16px 24px', justifyContent: 'center' }}&gt;&#10;        &lt;Text style={{ fontSize: 44, fontWeight: 'bold', color: '#1E4FA8' }}&gt;1 条&lt;/Text&gt;&#10;        &lt;Text style={{ fontSize: 16, color: '#4A5568' }}&gt;已知失败断言 · README 如实标注 · 不改代码凑通过&lt;/Text&gt;&#10;      &lt;/Box&gt;&#10;    &lt;/Box&gt;&#10;    {/* 能做 / 不能做 */}&#10;    &lt;Box style={{ flex: 1, flexDirection: 'row', gap: 20 }}&gt;&#10;      &lt;Box style={{ flex: 1.2, background: '#FFFFFF', border: '1px solid #D6DCE5', borderLeft: '6px solid #1E4FA8', borderRadius: 10, padding: '16px 22px', flexDirection: 'column', justifyContent: 'center' }}&gt;&#10;        &lt;Text style={{ fontSize: 19, fontWeight: 'bold', color: '#1E4FA8', marginBottom: 8 }}&gt;本系统能做到的&lt;/Text&gt;&#10;        &lt;Text style={{ fontSize: 16, color: '#4A5568', lineHeight: 1.7 }}&gt;&#10;          ✓ 确定性规则判定，阈值可复现　　✓ 数据三层分离，事实不可篡改&lt;br /&gt;&#10;          ✓ AI 只解释不决策，调分走确认　✓ 三级预警同源，无第二套阈值&lt;br /&gt;&#10;          ✓ NULL 不当 0，缺测正确处理　　✓ 全部操作写审计日志可追溯&lt;br /&gt;&#10;          ✓ 本地 SQLite 一键启动可复现　　✓ 15 脚本 456/457 断言可重跑&#10;        &lt;/Text&gt;&#10;      &lt;/Box&gt;&#10;      &lt;Box style={{ flex: 1, background: '#FFFFFF', border: '1px solid #D6DCE5', borderLeft: '6px solid #D9534F', borderRadius: 10, padding: '16px 22px', flexDirection: 'column', justifyContent: 'center' }}&gt;&#10;        &lt;Text style={{ fontSize: 19, fontWeight: 'bold', color: '#D9534F', marginBottom: 8 }}&gt;本系统不能做到的（不夸大）&lt;/Text&gt;&#10;        &lt;Text style={{ fontSize: 16, color: '#4A5568', lineHeight: 1.7 }}&gt;&#10;          ✗ 不做医学诊断或开处方　　　　✗ 不做连续监护或急救&lt;br /&gt;&#10;          ✗ 不替代医生面诊与专业判断　　✗ 阈值为演示规则非临床指南&lt;br /&gt;&#10;          ✗ 不保证 AI 建议绝对安全有效　✗ 不处理急症胸痛昏迷等&lt;br /&gt;&#10;          ✗ 不做用药调整，仅提醒记录　　✗ 无实时推送，跨端需刷新&#10;        &lt;/Text&gt;&#10;      &lt;/Box&gt;&#10;    &lt;/Box&gt;&#10;  &lt;/Box&gt;&#10;  {/* 页脚 */}&#10;  &lt;Box style={{ height: 40, flexDirection: 'row', justifyContent: 'space-between', alignItems: 'center', padding: '0 40px' }}&gt;&#10;    &lt;Text style={{ fontSize: 14, color: '#8B97A8' }}&gt;迈康 MyCare · 老年慢病多智能体协同健康管理平台&lt;/Text&gt;&#10;    &lt;Text style={{ fontSize: 14, color: '#1E4FA8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381000" y="209550"/>
            <a:ext cx="57150" cy="3429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90550" y="2095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系统边界与验收证据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486150" y="285750"/>
            <a:ext cx="2219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456 / 457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断言通过</a:t>
            </a:r>
            <a:r>
              <a:rPr lang="en-US" sz="1275">
                <a:solidFill>
                  <a:srgbClr val="C9D8F0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C9D8F0"/>
                </a:solidFill>
                <a:latin typeface="Microsoft YaHei"/>
                <a:ea typeface="Microsoft YaHei"/>
              </a:rPr>
              <a:t>诚实报告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381000" y="952500"/>
            <a:ext cx="4552950" cy="1181100"/>
          </a:xfrm>
          <a:prstGeom prst="roundRect">
            <a:avLst>
              <a:gd name="adj" fmla="val 967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28650" y="1104900"/>
            <a:ext cx="27432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456/457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486150" y="1676400"/>
            <a:ext cx="1200150" cy="304800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CC4"/>
                </a:solidFill>
                <a:latin typeface="Microsoft YaHei"/>
                <a:ea typeface="Microsoft YaHei"/>
              </a:rPr>
              <a:t>断言通过</a:t>
            </a:r>
            <a:r>
              <a:rPr lang="en-US" sz="1350">
                <a:solidFill>
                  <a:srgbClr val="8B9CC4"/>
                </a:solidFill>
                <a:latin typeface="Microsoft YaHei"/>
                <a:ea typeface="Microsoft YaHei"/>
              </a:rPr>
              <a:t> · 99.8%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124450" y="952500"/>
            <a:ext cx="3248025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353050" y="1104900"/>
            <a:ext cx="27908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15 </a:t>
            </a:r>
            <a:r>
              <a:rPr lang="zh-CN" sz="3300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353050" y="1609725"/>
            <a:ext cx="27908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确定性验收脚本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副本库运行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真实库零改动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8562975" y="952500"/>
            <a:ext cx="3248025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791575" y="1104900"/>
            <a:ext cx="27908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1 </a:t>
            </a:r>
            <a:r>
              <a:rPr lang="zh-CN" sz="3300" b="1">
                <a:solidFill>
                  <a:srgbClr val="1E4FA8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91575" y="1609725"/>
            <a:ext cx="2790825" cy="371475"/>
          </a:xfrm>
          <a:prstGeom prst="rect"/>
        </p:spPr>
        <p:txBody>
          <a:bodyPr wrap="square" lIns="0" tIns="0" rIns="0" bIns="0">
            <a:normAutofit fontScale="100000"/>
          </a:bodyPr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已知失败断言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38150" y="2305050"/>
            <a:ext cx="6134100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38150" y="2305050"/>
            <a:ext cx="6134100" cy="3790950"/>
          </a:xfrm>
          <a:custGeom>
            <a:pathLst>
              <a:path w="644" h="398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394"/>
                </a:lnTo>
                <a:cubicBezTo>
                  <a:pt x="6" y="396"/>
                  <a:pt x="8" y="398"/>
                  <a:pt x="10" y="398"/>
                </a:cubicBezTo>
                <a:cubicBezTo>
                  <a:pt x="4" y="398"/>
                  <a:pt x="0" y="393"/>
                  <a:pt x="0" y="38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7700" y="3429000"/>
            <a:ext cx="5657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本系统能做到的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47700" y="3724275"/>
            <a:ext cx="5657850" cy="12477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✓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确定性规则判定，阈值可复现　　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数据三层分离，事实不可篡改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✓ 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只解释不决策，调分走确认　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三级预警同源，无第二套阈值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✓ NULL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，缺测正确处理　　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全部操作写审计日志可追溯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✓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本地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SQLite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一键启动可复现　　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脚本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456/457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断言可重跑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762750" y="2305050"/>
            <a:ext cx="5105400" cy="379095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762750" y="2305050"/>
            <a:ext cx="5105400" cy="3790950"/>
          </a:xfrm>
          <a:custGeom>
            <a:pathLst>
              <a:path w="536" h="398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394"/>
                </a:lnTo>
                <a:cubicBezTo>
                  <a:pt x="6" y="396"/>
                  <a:pt x="8" y="398"/>
                  <a:pt x="10" y="398"/>
                </a:cubicBezTo>
                <a:cubicBezTo>
                  <a:pt x="4" y="398"/>
                  <a:pt x="0" y="393"/>
                  <a:pt x="0" y="38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972300" y="3429000"/>
            <a:ext cx="4629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本系统不能做到的（不夸大）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972300" y="3724275"/>
            <a:ext cx="4629150" cy="12477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不做医学诊断或开处方　　　　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不做连续监护或急救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不替代医生面诊与专业判断　　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阈值为演示规则非临床指南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不保证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建议绝对安全有效　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不处理急症胸痛昏迷等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✗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不做用药调整，仅提醒记录　　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无实时推送，跨端需刷新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MyCare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width: 1280, height: 720, background: '#F7F9FC', flexDirection: 'column' }}&gt;&#10;  {/* 顶部深蓝条 */}&#10;  &lt;Box style={{ width: '100%', height: 10, background: '#0E3F8C' }} /&gt;&#10;  {/* 金句区 */}&#10;  &lt;Box style={{ height: 170, flexDirection: 'column', alignItems: 'center', justifyContent: 'center', gap: 14 }}&gt;&#10;    &lt;Text style={{ fontSize: 40, fontWeight: 'bold', color: '#0E3F8C' }}&gt;&#10;      「让 AI &lt;span style={{ color: '#D9534F' }}&gt;少做&lt;/span&gt;，比让 AI 多做更重要」&#10;    &lt;/Text&gt;&#10;    &lt;Text style={{ fontSize: 19, color: '#4A5568' }}&gt;&#10;      用确定性规则守住医学底线 · 用工程约束管住模型边界 · 用自动化验收保证可复现&#10;    &lt;/Text&gt;&#10;  &lt;/Box&gt;&#10;  {/* 限制与展望双栏 */}&#10;  &lt;Box style={{ height: 380, flexDirection: 'row', padding: '0 60px', gap: 24 }}&gt;&#10;    &lt;Box style={{ flex: 1, background: '#FFFFFF', border: '1px solid #D6DCE5', borderRadius: 12, padding: '22px 28px', flexDirection: 'column', gap: 10 }}&gt;&#10;      &lt;Text style={{ fontSize: 21, fontWeight: 'bold', color: '#0E3F8C' }}&gt;当前限制（如实告知）&lt;/Text&gt;&#10;      &lt;Text style={{ fontSize: 16, color: '#4A5568', lineHeight: 1.8 }}&gt;&#10;        · 阈值为项目内演示规则，未接真实临床指南&lt;br /&gt;&#10;        · 暂覆盖高血压 / 糖尿病 / 肥胖三类慢病&lt;br /&gt;&#10;        · 无智能设备自动同步，数据靠手工录入&lt;br /&gt;&#10;        · 医生端未做请求者身份鉴权，暂无实时推送&lt;br /&gt;&#10;        · 1 条验收断言已知失败（已在 README 标注）&#10;      &lt;/Text&gt;&#10;    &lt;/Box&gt;&#10;    &lt;Box style={{ flex: 1, background: '#FFFFFF', border: '1px solid #D6DCE5', borderRadius: 12, padding: '22px 28px', flexDirection: 'column', gap: 10 }}&gt;&#10;      &lt;Text style={{ fontSize: 21, fontWeight: 'bold', color: '#0E3F8C' }}&gt;后续方向&lt;/Text&gt;&#10;      &lt;Text style={{ fontSize: 16, color: '#4A5568', lineHeight: 1.8 }}&gt;&#10;        · 接入真实指南阈值库，提升规则权威性&lt;br /&gt;&#10;        · 扩展慢病类型（血脂 / 心律 / 肾病）&lt;br /&gt;&#10;        · 智能设备蓝牙同步与语音大字适老化&lt;br /&gt;&#10;        · 医生端会话鉴权与实时同步（WebSocket）&lt;br /&gt;&#10;        · 家庭照护者端与真实用户队列长期验证&#10;      &lt;/Text&gt;&#10;    &lt;/Box&gt;&#10;  &lt;/Box&gt;&#10;  {/* 谢谢区 */}&#10;  &lt;Box style={{ flex: 1, flexDirection: 'column', alignItems: 'center', justifyContent: 'center', gap: 10 }}&gt;&#10;    &lt;Text style={{ fontSize: 34, fontWeight: 'bold', color: '#1E4FA8' }}&gt;谢谢聆听 · 欢迎评委与老师指正&lt;/Text&gt;&#10;    &lt;Text style={{ fontSize: 16, color: '#8B97A8' }}&gt;迈康 MyCare —— 老年慢病多智能体协同健康管理平台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981325" y="504825"/>
            <a:ext cx="6238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「让</a:t>
            </a: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3000" b="1">
                <a:solidFill>
                  <a:srgbClr val="D9534F"/>
                </a:solidFill>
                <a:latin typeface="Microsoft YaHei"/>
                <a:ea typeface="Microsoft YaHei"/>
              </a:rPr>
              <a:t>少做</a:t>
            </a: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，比让</a:t>
            </a: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多做更重要」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867025" y="1095375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用确定性规则守住医学底线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用工程约束管住模型边界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用自动化验收保证可复现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714500"/>
            <a:ext cx="54102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当前限制（如实告知）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4876800" cy="16478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阈值为项目内演示规则，未接真实临床指南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暂覆盖高血压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糖尿病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肥胖三类慢病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无智能设备自动同步，数据靠手工录入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医生端未做请求者身份鉴权，暂无实时推送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条验收断言已知失败（已在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README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标注）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210300" y="1714500"/>
            <a:ext cx="54102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477000" y="1924050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后续方向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477000" y="2266950"/>
            <a:ext cx="4876800" cy="16478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接入真实指南阈值库，提升规则权威性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扩展慢病类型（血脂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心律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肾病）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智能设备蓝牙同步与语音大字适老化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医生端会话鉴权与实时同步（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WebSocket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家庭照护者端与真实用户队列长期验证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19525" y="5762625"/>
            <a:ext cx="4552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谢谢聆听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欢迎评委与老师指正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210050" y="6248400"/>
            <a:ext cx="377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迈康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MyCare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老年慢病多智能体协同健康管理平台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2026-09-17T10:28:46Z</dcterms:created>
  <dcterms:modified xsi:type="dcterms:W3CDTF">2026-09-17T10:28:46Z</dcterms:modified>
</cp:coreProperties>
</file>